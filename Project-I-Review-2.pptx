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70" r:id="rId3"/>
    <p:sldId id="271" r:id="rId4"/>
    <p:sldId id="273" r:id="rId5"/>
    <p:sldId id="259" r:id="rId6"/>
    <p:sldId id="260" r:id="rId7"/>
    <p:sldId id="261" r:id="rId8"/>
    <p:sldId id="274" r:id="rId9"/>
    <p:sldId id="262" r:id="rId10"/>
    <p:sldId id="263" r:id="rId11"/>
    <p:sldId id="264" r:id="rId12"/>
    <p:sldId id="267" r:id="rId13"/>
    <p:sldId id="269" r:id="rId14"/>
    <p:sldId id="268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45E26FF-421B-4F94-894C-F2178A8E6007}" v="10" dt="2026-09-09T07:13:16.53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66" d="100"/>
          <a:sy n="66" d="100"/>
        </p:scale>
        <p:origin x="64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IVARDHAN SINGH" userId="8865726eb2f8dd13" providerId="LiveId" clId="{AB458706-3EE5-4837-9EBB-750A96EEAAE8}"/>
    <pc:docChg chg="undo custSel addSld delSld modSld sldOrd">
      <pc:chgData name="JAIVARDHAN SINGH" userId="8865726eb2f8dd13" providerId="LiveId" clId="{AB458706-3EE5-4837-9EBB-750A96EEAAE8}" dt="2026-09-09T07:14:24.330" v="151"/>
      <pc:docMkLst>
        <pc:docMk/>
      </pc:docMkLst>
      <pc:sldChg chg="modSp mod">
        <pc:chgData name="JAIVARDHAN SINGH" userId="8865726eb2f8dd13" providerId="LiveId" clId="{AB458706-3EE5-4837-9EBB-750A96EEAAE8}" dt="2026-09-09T07:00:28.156" v="47" actId="20577"/>
        <pc:sldMkLst>
          <pc:docMk/>
          <pc:sldMk cId="0" sldId="256"/>
        </pc:sldMkLst>
        <pc:spChg chg="mod">
          <ac:chgData name="JAIVARDHAN SINGH" userId="8865726eb2f8dd13" providerId="LiveId" clId="{AB458706-3EE5-4837-9EBB-750A96EEAAE8}" dt="2026-09-09T07:00:28.156" v="47" actId="20577"/>
          <ac:spMkLst>
            <pc:docMk/>
            <pc:sldMk cId="0" sldId="256"/>
            <ac:spMk id="2" creationId="{00000000-0000-0000-0000-000000000000}"/>
          </ac:spMkLst>
        </pc:spChg>
      </pc:sldChg>
      <pc:sldChg chg="del">
        <pc:chgData name="JAIVARDHAN SINGH" userId="8865726eb2f8dd13" providerId="LiveId" clId="{AB458706-3EE5-4837-9EBB-750A96EEAAE8}" dt="2026-09-09T04:33:07.658" v="0" actId="2696"/>
        <pc:sldMkLst>
          <pc:docMk/>
          <pc:sldMk cId="0" sldId="257"/>
        </pc:sldMkLst>
      </pc:sldChg>
      <pc:sldChg chg="del">
        <pc:chgData name="JAIVARDHAN SINGH" userId="8865726eb2f8dd13" providerId="LiveId" clId="{AB458706-3EE5-4837-9EBB-750A96EEAAE8}" dt="2026-09-09T04:59:01.014" v="1" actId="47"/>
        <pc:sldMkLst>
          <pc:docMk/>
          <pc:sldMk cId="0" sldId="258"/>
        </pc:sldMkLst>
      </pc:sldChg>
      <pc:sldChg chg="ord">
        <pc:chgData name="JAIVARDHAN SINGH" userId="8865726eb2f8dd13" providerId="LiveId" clId="{AB458706-3EE5-4837-9EBB-750A96EEAAE8}" dt="2026-09-09T07:14:18.164" v="147"/>
        <pc:sldMkLst>
          <pc:docMk/>
          <pc:sldMk cId="0" sldId="259"/>
        </pc:sldMkLst>
      </pc:sldChg>
      <pc:sldChg chg="ord">
        <pc:chgData name="JAIVARDHAN SINGH" userId="8865726eb2f8dd13" providerId="LiveId" clId="{AB458706-3EE5-4837-9EBB-750A96EEAAE8}" dt="2026-09-09T07:14:20.063" v="149"/>
        <pc:sldMkLst>
          <pc:docMk/>
          <pc:sldMk cId="0" sldId="260"/>
        </pc:sldMkLst>
      </pc:sldChg>
      <pc:sldChg chg="ord">
        <pc:chgData name="JAIVARDHAN SINGH" userId="8865726eb2f8dd13" providerId="LiveId" clId="{AB458706-3EE5-4837-9EBB-750A96EEAAE8}" dt="2026-09-09T07:14:24.330" v="151"/>
        <pc:sldMkLst>
          <pc:docMk/>
          <pc:sldMk cId="0" sldId="261"/>
        </pc:sldMkLst>
      </pc:sldChg>
      <pc:sldChg chg="delSp del mod">
        <pc:chgData name="JAIVARDHAN SINGH" userId="8865726eb2f8dd13" providerId="LiveId" clId="{AB458706-3EE5-4837-9EBB-750A96EEAAE8}" dt="2026-09-09T06:20:21.109" v="4" actId="47"/>
        <pc:sldMkLst>
          <pc:docMk/>
          <pc:sldMk cId="0" sldId="265"/>
        </pc:sldMkLst>
        <pc:spChg chg="del">
          <ac:chgData name="JAIVARDHAN SINGH" userId="8865726eb2f8dd13" providerId="LiveId" clId="{AB458706-3EE5-4837-9EBB-750A96EEAAE8}" dt="2026-09-09T06:20:15.686" v="3" actId="478"/>
          <ac:spMkLst>
            <pc:docMk/>
            <pc:sldMk cId="0" sldId="265"/>
            <ac:spMk id="4" creationId="{00000000-0000-0000-0000-000000000000}"/>
          </ac:spMkLst>
        </pc:spChg>
      </pc:sldChg>
      <pc:sldChg chg="del">
        <pc:chgData name="JAIVARDHAN SINGH" userId="8865726eb2f8dd13" providerId="LiveId" clId="{AB458706-3EE5-4837-9EBB-750A96EEAAE8}" dt="2026-09-09T06:19:31.340" v="2" actId="47"/>
        <pc:sldMkLst>
          <pc:docMk/>
          <pc:sldMk cId="0" sldId="266"/>
        </pc:sldMkLst>
      </pc:sldChg>
      <pc:sldChg chg="addSp modSp new mod">
        <pc:chgData name="JAIVARDHAN SINGH" userId="8865726eb2f8dd13" providerId="LiveId" clId="{AB458706-3EE5-4837-9EBB-750A96EEAAE8}" dt="2026-09-09T06:43:04.103" v="22" actId="14100"/>
        <pc:sldMkLst>
          <pc:docMk/>
          <pc:sldMk cId="4018571465" sldId="269"/>
        </pc:sldMkLst>
        <pc:spChg chg="add mod">
          <ac:chgData name="JAIVARDHAN SINGH" userId="8865726eb2f8dd13" providerId="LiveId" clId="{AB458706-3EE5-4837-9EBB-750A96EEAAE8}" dt="2026-09-09T06:42:39.480" v="19" actId="2711"/>
          <ac:spMkLst>
            <pc:docMk/>
            <pc:sldMk cId="4018571465" sldId="269"/>
            <ac:spMk id="2" creationId="{2FF61428-48BD-B55D-22BD-A95A72D4A37B}"/>
          </ac:spMkLst>
        </pc:spChg>
        <pc:picChg chg="add mod">
          <ac:chgData name="JAIVARDHAN SINGH" userId="8865726eb2f8dd13" providerId="LiveId" clId="{AB458706-3EE5-4837-9EBB-750A96EEAAE8}" dt="2026-09-09T06:43:04.103" v="22" actId="14100"/>
          <ac:picMkLst>
            <pc:docMk/>
            <pc:sldMk cId="4018571465" sldId="269"/>
            <ac:picMk id="4" creationId="{DC082073-41C4-11FA-B18A-02352028CD7E}"/>
          </ac:picMkLst>
        </pc:picChg>
      </pc:sldChg>
      <pc:sldChg chg="addSp delSp modSp new mod">
        <pc:chgData name="JAIVARDHAN SINGH" userId="8865726eb2f8dd13" providerId="LiveId" clId="{AB458706-3EE5-4837-9EBB-750A96EEAAE8}" dt="2026-09-09T07:11:40.628" v="95" actId="14100"/>
        <pc:sldMkLst>
          <pc:docMk/>
          <pc:sldMk cId="1550524443" sldId="270"/>
        </pc:sldMkLst>
        <pc:spChg chg="add del mod">
          <ac:chgData name="JAIVARDHAN SINGH" userId="8865726eb2f8dd13" providerId="LiveId" clId="{AB458706-3EE5-4837-9EBB-750A96EEAAE8}" dt="2026-09-09T07:08:39.526" v="59"/>
          <ac:spMkLst>
            <pc:docMk/>
            <pc:sldMk cId="1550524443" sldId="270"/>
            <ac:spMk id="4" creationId="{B7F06DC0-C5AB-99B5-B71D-F0D7EBB3D7AF}"/>
          </ac:spMkLst>
        </pc:spChg>
        <pc:spChg chg="add mod">
          <ac:chgData name="JAIVARDHAN SINGH" userId="8865726eb2f8dd13" providerId="LiveId" clId="{AB458706-3EE5-4837-9EBB-750A96EEAAE8}" dt="2026-09-09T07:11:40.628" v="95" actId="14100"/>
          <ac:spMkLst>
            <pc:docMk/>
            <pc:sldMk cId="1550524443" sldId="270"/>
            <ac:spMk id="5" creationId="{F943A30F-4078-DB21-082F-839849B45F77}"/>
          </ac:spMkLst>
        </pc:spChg>
        <pc:picChg chg="add mod">
          <ac:chgData name="JAIVARDHAN SINGH" userId="8865726eb2f8dd13" providerId="LiveId" clId="{AB458706-3EE5-4837-9EBB-750A96EEAAE8}" dt="2026-09-09T07:11:21.560" v="92" actId="14100"/>
          <ac:picMkLst>
            <pc:docMk/>
            <pc:sldMk cId="1550524443" sldId="270"/>
            <ac:picMk id="3" creationId="{B566EA91-9D5B-EB87-A53C-6C83E2A8E3F6}"/>
          </ac:picMkLst>
        </pc:picChg>
      </pc:sldChg>
      <pc:sldChg chg="new del">
        <pc:chgData name="JAIVARDHAN SINGH" userId="8865726eb2f8dd13" providerId="LiveId" clId="{AB458706-3EE5-4837-9EBB-750A96EEAAE8}" dt="2026-09-09T06:43:10.615" v="24" actId="47"/>
        <pc:sldMkLst>
          <pc:docMk/>
          <pc:sldMk cId="2091011952" sldId="270"/>
        </pc:sldMkLst>
      </pc:sldChg>
      <pc:sldChg chg="delSp add del mod">
        <pc:chgData name="JAIVARDHAN SINGH" userId="8865726eb2f8dd13" providerId="LiveId" clId="{AB458706-3EE5-4837-9EBB-750A96EEAAE8}" dt="2026-09-09T06:44:58.455" v="27" actId="47"/>
        <pc:sldMkLst>
          <pc:docMk/>
          <pc:sldMk cId="2846008155" sldId="270"/>
        </pc:sldMkLst>
        <pc:spChg chg="del">
          <ac:chgData name="JAIVARDHAN SINGH" userId="8865726eb2f8dd13" providerId="LiveId" clId="{AB458706-3EE5-4837-9EBB-750A96EEAAE8}" dt="2026-09-09T06:43:16.835" v="26" actId="478"/>
          <ac:spMkLst>
            <pc:docMk/>
            <pc:sldMk cId="2846008155" sldId="270"/>
            <ac:spMk id="2" creationId="{D3F02A8C-1DB8-01B8-40FC-3E4C268EB13E}"/>
          </ac:spMkLst>
        </pc:spChg>
      </pc:sldChg>
      <pc:sldChg chg="addSp modSp new mod">
        <pc:chgData name="JAIVARDHAN SINGH" userId="8865726eb2f8dd13" providerId="LiveId" clId="{AB458706-3EE5-4837-9EBB-750A96EEAAE8}" dt="2026-09-09T07:11:34.272" v="93" actId="108"/>
        <pc:sldMkLst>
          <pc:docMk/>
          <pc:sldMk cId="4202389363" sldId="271"/>
        </pc:sldMkLst>
        <pc:spChg chg="add mod">
          <ac:chgData name="JAIVARDHAN SINGH" userId="8865726eb2f8dd13" providerId="LiveId" clId="{AB458706-3EE5-4837-9EBB-750A96EEAAE8}" dt="2026-09-09T07:11:34.272" v="93" actId="108"/>
          <ac:spMkLst>
            <pc:docMk/>
            <pc:sldMk cId="4202389363" sldId="271"/>
            <ac:spMk id="3" creationId="{CE655CB7-D862-1B64-A8E0-D14DAC636F96}"/>
          </ac:spMkLst>
        </pc:spChg>
        <pc:spChg chg="add mod">
          <ac:chgData name="JAIVARDHAN SINGH" userId="8865726eb2f8dd13" providerId="LiveId" clId="{AB458706-3EE5-4837-9EBB-750A96EEAAE8}" dt="2026-09-09T07:10:58.716" v="84" actId="14100"/>
          <ac:spMkLst>
            <pc:docMk/>
            <pc:sldMk cId="4202389363" sldId="271"/>
            <ac:spMk id="4" creationId="{F627F991-9039-939A-15D9-55DAD0D64DBE}"/>
          </ac:spMkLst>
        </pc:spChg>
      </pc:sldChg>
      <pc:sldChg chg="addSp delSp modSp add del mod">
        <pc:chgData name="JAIVARDHAN SINGH" userId="8865726eb2f8dd13" providerId="LiveId" clId="{AB458706-3EE5-4837-9EBB-750A96EEAAE8}" dt="2026-09-09T07:13:09.848" v="138" actId="47"/>
        <pc:sldMkLst>
          <pc:docMk/>
          <pc:sldMk cId="3177544929" sldId="272"/>
        </pc:sldMkLst>
        <pc:spChg chg="add del mod">
          <ac:chgData name="JAIVARDHAN SINGH" userId="8865726eb2f8dd13" providerId="LiveId" clId="{AB458706-3EE5-4837-9EBB-750A96EEAAE8}" dt="2026-09-09T07:12:40.765" v="123" actId="20577"/>
          <ac:spMkLst>
            <pc:docMk/>
            <pc:sldMk cId="3177544929" sldId="272"/>
            <ac:spMk id="3" creationId="{877D2611-4AE9-F929-DC79-17F9D1E61566}"/>
          </ac:spMkLst>
        </pc:spChg>
      </pc:sldChg>
      <pc:sldChg chg="modSp add mod">
        <pc:chgData name="JAIVARDHAN SINGH" userId="8865726eb2f8dd13" providerId="LiveId" clId="{AB458706-3EE5-4837-9EBB-750A96EEAAE8}" dt="2026-09-09T07:13:06.843" v="137" actId="20577"/>
        <pc:sldMkLst>
          <pc:docMk/>
          <pc:sldMk cId="957546154" sldId="273"/>
        </pc:sldMkLst>
        <pc:spChg chg="mod">
          <ac:chgData name="JAIVARDHAN SINGH" userId="8865726eb2f8dd13" providerId="LiveId" clId="{AB458706-3EE5-4837-9EBB-750A96EEAAE8}" dt="2026-09-09T07:13:06.843" v="137" actId="20577"/>
          <ac:spMkLst>
            <pc:docMk/>
            <pc:sldMk cId="957546154" sldId="273"/>
            <ac:spMk id="3" creationId="{362DEB59-EEEC-344E-E159-7EA8A6B0494C}"/>
          </ac:spMkLst>
        </pc:spChg>
        <pc:spChg chg="mod">
          <ac:chgData name="JAIVARDHAN SINGH" userId="8865726eb2f8dd13" providerId="LiveId" clId="{AB458706-3EE5-4837-9EBB-750A96EEAAE8}" dt="2026-09-09T07:13:01.799" v="128" actId="404"/>
          <ac:spMkLst>
            <pc:docMk/>
            <pc:sldMk cId="957546154" sldId="273"/>
            <ac:spMk id="4" creationId="{1E3AE399-352C-9B47-89B5-53781DA49F63}"/>
          </ac:spMkLst>
        </pc:spChg>
      </pc:sldChg>
      <pc:sldChg chg="addSp delSp modSp add mod">
        <pc:chgData name="JAIVARDHAN SINGH" userId="8865726eb2f8dd13" providerId="LiveId" clId="{AB458706-3EE5-4837-9EBB-750A96EEAAE8}" dt="2026-09-09T07:14:08.136" v="145" actId="14100"/>
        <pc:sldMkLst>
          <pc:docMk/>
          <pc:sldMk cId="738749431" sldId="274"/>
        </pc:sldMkLst>
        <pc:spChg chg="del">
          <ac:chgData name="JAIVARDHAN SINGH" userId="8865726eb2f8dd13" providerId="LiveId" clId="{AB458706-3EE5-4837-9EBB-750A96EEAAE8}" dt="2026-09-09T07:14:02.196" v="142" actId="478"/>
          <ac:spMkLst>
            <pc:docMk/>
            <pc:sldMk cId="738749431" sldId="274"/>
            <ac:spMk id="3" creationId="{8141C555-3E4F-D2EC-AC3F-7029E6C8203D}"/>
          </ac:spMkLst>
        </pc:spChg>
        <pc:spChg chg="del mod">
          <ac:chgData name="JAIVARDHAN SINGH" userId="8865726eb2f8dd13" providerId="LiveId" clId="{AB458706-3EE5-4837-9EBB-750A96EEAAE8}" dt="2026-09-09T07:13:59.184" v="141" actId="478"/>
          <ac:spMkLst>
            <pc:docMk/>
            <pc:sldMk cId="738749431" sldId="274"/>
            <ac:spMk id="4" creationId="{398B93F2-0FC7-D65A-FD5C-DFCA618026D1}"/>
          </ac:spMkLst>
        </pc:spChg>
        <pc:picChg chg="add mod">
          <ac:chgData name="JAIVARDHAN SINGH" userId="8865726eb2f8dd13" providerId="LiveId" clId="{AB458706-3EE5-4837-9EBB-750A96EEAAE8}" dt="2026-09-09T07:14:08.136" v="145" actId="14100"/>
          <ac:picMkLst>
            <pc:docMk/>
            <pc:sldMk cId="738749431" sldId="274"/>
            <ac:picMk id="5" creationId="{B3A530F9-6BBB-FB01-EBA1-AE767018B6E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632112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 goal: a reader should learn a video's content without watching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four gaps map one-to-one onto the objectives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 4 is where the novel contribution sits — the scheduler that holds the budget across machines.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that M5-prime is the stage that made the output teachable, and M7 is the only model we trained.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Emphasise: nothing here is fine-tuned except M7. The contribution is in the system, not in retraining a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precise if asked: the pipeline and both interfaces work; cloud deployment config exists but is not yet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measured, not aspirational. Say plainly that the figures are for English; translation costs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cached Subsets video — it has explanation, four-language code, glossary and a highlight reel.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Volunteering the limits is deliberate — it is what separates a measured project from a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993392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AI-Based Video Summarization System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852928"/>
            <a:ext cx="110550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F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any video without watching it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858768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E97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Review 2   ·   BCSE497J   ·   VIT Vellore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422452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F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Jaivardhan Singh (23BCI0036)  ·  Sujay Chand (23BCE0217)  ·  Harshit Raj (23BCE0190)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453542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F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Guide: Dr. Deepa K, SCOPE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566EA91-9D5B-EB87-A53C-6C83E2A8E3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4047" y="916025"/>
            <a:ext cx="8565009" cy="53596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943A30F-4078-DB21-082F-839849B45F77}"/>
              </a:ext>
            </a:extLst>
          </p:cNvPr>
          <p:cNvSpPr txBox="1"/>
          <p:nvPr/>
        </p:nvSpPr>
        <p:spPr>
          <a:xfrm>
            <a:off x="683394" y="298383"/>
            <a:ext cx="431211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>
              <a:defRPr sz="3200" b="1"/>
            </a:lvl1pPr>
          </a:lstStyle>
          <a:p>
            <a:r>
              <a:rPr lang="en-IN" dirty="0">
                <a:solidFill>
                  <a:srgbClr val="18181B"/>
                </a:solidFill>
                <a:latin typeface="Cambria" pitchFamily="34" charset="0"/>
                <a:ea typeface="Cambria" pitchFamily="34" charset="-122"/>
              </a:rPr>
              <a:t>Guide</a:t>
            </a:r>
            <a:r>
              <a:rPr lang="en-IN" dirty="0"/>
              <a:t> Approval</a:t>
            </a:r>
          </a:p>
        </p:txBody>
      </p:sp>
    </p:spTree>
    <p:extLst>
      <p:ext uri="{BB962C8B-B14F-4D97-AF65-F5344CB8AC3E}">
        <p14:creationId xmlns:p14="http://schemas.microsoft.com/office/powerpoint/2010/main" val="1550524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E655CB7-D862-1B64-A8E0-D14DAC636F96}"/>
              </a:ext>
            </a:extLst>
          </p:cNvPr>
          <p:cNvSpPr txBox="1"/>
          <p:nvPr/>
        </p:nvSpPr>
        <p:spPr>
          <a:xfrm>
            <a:off x="642487" y="599793"/>
            <a:ext cx="6097604" cy="5847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indent="0">
              <a:buNone/>
              <a:defRPr sz="3200" b="1">
                <a:solidFill>
                  <a:srgbClr val="18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r>
              <a:rPr lang="en-IN" dirty="0"/>
              <a:t>Aim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27F991-9039-939A-15D9-55DAD0D64DBE}"/>
              </a:ext>
            </a:extLst>
          </p:cNvPr>
          <p:cNvSpPr txBox="1"/>
          <p:nvPr/>
        </p:nvSpPr>
        <p:spPr>
          <a:xfrm>
            <a:off x="481263" y="1913641"/>
            <a:ext cx="893224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To design and implement a multimodal video understanding system that converts any video into a self-contained, teachable explanation — combining automatic speech recognition with visual analysis of on-screen material — while holding explanation quality constant across video length and completing within a stated wall-clock budget on ordinary CPU hardware.</a:t>
            </a:r>
          </a:p>
        </p:txBody>
      </p:sp>
    </p:spTree>
    <p:extLst>
      <p:ext uri="{BB962C8B-B14F-4D97-AF65-F5344CB8AC3E}">
        <p14:creationId xmlns:p14="http://schemas.microsoft.com/office/powerpoint/2010/main" val="42023893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9C2FB-BF73-3721-F539-8431A17D3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62DEB59-EEEC-344E-E159-7EA8A6B0494C}"/>
              </a:ext>
            </a:extLst>
          </p:cNvPr>
          <p:cNvSpPr txBox="1"/>
          <p:nvPr/>
        </p:nvSpPr>
        <p:spPr>
          <a:xfrm>
            <a:off x="642487" y="599793"/>
            <a:ext cx="6097604" cy="5847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indent="0">
              <a:buNone/>
              <a:defRPr sz="3200" b="1">
                <a:solidFill>
                  <a:srgbClr val="18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r>
              <a:rPr lang="en-IN" dirty="0"/>
              <a:t>Abstract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3AE399-352C-9B47-89B5-53781DA49F63}"/>
              </a:ext>
            </a:extLst>
          </p:cNvPr>
          <p:cNvSpPr txBox="1"/>
          <p:nvPr/>
        </p:nvSpPr>
        <p:spPr>
          <a:xfrm>
            <a:off x="375384" y="1202032"/>
            <a:ext cx="10963175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/>
              <a:t>Video is now the dominant medium for lectures, meetings and technical explanation, but it is the least searchable one: extracting five minutes of relevant content from a sixty-minute recording still requires watching the recording. Existing work addresses parts of this problem in isolation. Extractive video-summarization models select which frames matter but never say what they contain; abstractive text summarizers compress a transcript into an abstract that names a topic without teaching it; and video question-answering systems treat the transcript as flat text, discarding the slides, diagrams and code that carry most of the information in an instructional video.</a:t>
            </a:r>
          </a:p>
          <a:p>
            <a:r>
              <a:rPr lang="en-IN" sz="1600" dirty="0"/>
              <a:t>This project builds a single system that produces an explanation a reader can learn from without watching the source. A seven-stage pipeline (M1–M7) ingests the video audio-first, transcribes it with a silence-split parallel Whisper implementation, segments it into scenes and extracts keyframes, objects and on-screen text, fuses the audio and visual tracks onto one timeline, and hands the whole transcript together with selected keyframes to a multimodal large language model under a constrained output schema. The result is a section-by-section walkthrough with timestamps, a glossary, chapter navigation, per-slide notes and, for programming videos, the algorithm with implementations in four languages. A FAISS index over the transcript supports grounded follow-up questions with cited timestamps.</a:t>
            </a:r>
          </a:p>
          <a:p>
            <a:r>
              <a:rPr lang="en-IN" sz="1600" dirty="0"/>
              <a:t>Two components are contributed beyond the assembly of existing models. First, an adaptive budget planner profiles the host machine, self-calibrates from every completed run, and selects the heaviest model configuration predicted to finish inside a stated wall-clock target — making processing time a published guarantee rather than an outcome. Second, a distributed SLA-constrained scheduler learns each worker class's cost model online and routes each job to a class predicted to meet its deadline. On a 43.5-minute lecture the complete pipeline runs in 6.3 minutes on a 16-core CPU-only machine with no GPU. The learned scene-importance model reaches an F1 of 0.265 on </a:t>
            </a:r>
            <a:r>
              <a:rPr lang="en-IN" sz="1600" dirty="0" err="1"/>
              <a:t>TVSum</a:t>
            </a:r>
            <a:r>
              <a:rPr lang="en-IN" sz="1600" dirty="0"/>
              <a:t> against a human leave-one-out agreement of 0.260 measured in the same pipeline.</a:t>
            </a:r>
          </a:p>
        </p:txBody>
      </p:sp>
    </p:spTree>
    <p:extLst>
      <p:ext uri="{BB962C8B-B14F-4D97-AF65-F5344CB8AC3E}">
        <p14:creationId xmlns:p14="http://schemas.microsoft.com/office/powerpoint/2010/main" val="9575461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8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Gap Identification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50976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gaps that together define the problem we took 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4668" cy="1664208"/>
          </a:xfrm>
          <a:prstGeom prst="roundRect">
            <a:avLst>
              <a:gd name="adj" fmla="val 4396"/>
            </a:avLst>
          </a:prstGeom>
          <a:solidFill>
            <a:srgbClr val="F4F5FA"/>
          </a:solidFill>
          <a:ln w="12700">
            <a:solidFill>
              <a:srgbClr val="F4F5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792224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389888" y="1773936"/>
            <a:ext cx="42473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Summaries are not teachable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389888" y="2066544"/>
            <a:ext cx="42473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100-word abstract of a 60-minute lecture names the topic. The reader still has to watch the video.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77356" y="1517904"/>
            <a:ext cx="5344668" cy="1664208"/>
          </a:xfrm>
          <a:prstGeom prst="roundRect">
            <a:avLst>
              <a:gd name="adj" fmla="val 4396"/>
            </a:avLst>
          </a:prstGeom>
          <a:solidFill>
            <a:srgbClr val="F4F5FA"/>
          </a:solidFill>
          <a:ln w="12700">
            <a:solidFill>
              <a:srgbClr val="F4F5F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51676" y="1792224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51676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100316" y="1773936"/>
            <a:ext cx="42473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On-screen material is discarded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100316" y="2066544"/>
            <a:ext cx="42473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a lecture's information is in diagrams, code and derivations. Text-only pipelines never look at it.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438144"/>
            <a:ext cx="5344668" cy="1664208"/>
          </a:xfrm>
          <a:prstGeom prst="roundRect">
            <a:avLst>
              <a:gd name="adj" fmla="val 4396"/>
            </a:avLst>
          </a:prstGeom>
          <a:solidFill>
            <a:srgbClr val="F4F5FA"/>
          </a:solidFill>
          <a:ln w="12700">
            <a:solidFill>
              <a:srgbClr val="F4F5F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" y="3712464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" y="3712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89888" y="3694176"/>
            <a:ext cx="42473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breaks quality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89888" y="3986784"/>
            <a:ext cx="42473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fixed output budget spread over a longer video thins the explanation until it is useless.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77356" y="3438144"/>
            <a:ext cx="5344668" cy="1664208"/>
          </a:xfrm>
          <a:prstGeom prst="roundRect">
            <a:avLst>
              <a:gd name="adj" fmla="val 4396"/>
            </a:avLst>
          </a:prstGeom>
          <a:solidFill>
            <a:srgbClr val="F4F5FA"/>
          </a:solidFill>
          <a:ln w="12700">
            <a:solidFill>
              <a:srgbClr val="F4F5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51676" y="3712464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51676" y="3712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100316" y="3694176"/>
            <a:ext cx="42473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wall-clock guarantee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100316" y="3986784"/>
            <a:ext cx="42473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are built around fixed models, so processing time scales with length and nothing holds a deadline.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8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50976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objective answers one identified gap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15568" y="1463040"/>
            <a:ext cx="10506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a teachable explanation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115568" y="1755648"/>
            <a:ext cx="105064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the video back section by section, filling gaps from standard knowledge and marking what was added.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2414016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2414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15568" y="2395728"/>
            <a:ext cx="10506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what is on the screen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" y="2688336"/>
            <a:ext cx="105064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every slide, diagram and board as a keyframe with its text, and explain it.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3346704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3346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" y="3328416"/>
            <a:ext cx="10506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quality at any length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15568" y="3621024"/>
            <a:ext cx="105064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explanation density constant from 10 minutes to 12 hours.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279392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4279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15568" y="4261104"/>
            <a:ext cx="10506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a wall-clock budget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115568" y="4553712"/>
            <a:ext cx="105064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heaviest configuration that still finishes inside a stated time target on the machine at hand.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5212080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5212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" y="5193792"/>
            <a:ext cx="10506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doubts conversationally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" y="5486400"/>
            <a:ext cx="105064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answers in the video, cite timestamps, and go beyond it when the video is silent — saying so.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8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 and Architecture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50976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M1–M7; transcription and vision run concurrently, and every stage caches its own artefact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1469571" cy="2834640"/>
          </a:xfrm>
          <a:prstGeom prst="roundRect">
            <a:avLst>
              <a:gd name="adj" fmla="val 4978"/>
            </a:avLst>
          </a:prstGeom>
          <a:solidFill>
            <a:srgbClr val="F4F5FA"/>
          </a:solidFill>
          <a:ln w="12700">
            <a:solidFill>
              <a:srgbClr val="F4F5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00784"/>
            <a:ext cx="14695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975104"/>
            <a:ext cx="14695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2340864"/>
            <a:ext cx="1286691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8000"/>
              </a:lnSpc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first, so</a:t>
            </a:r>
            <a:endParaRPr lang="en-US" sz="1000" dirty="0"/>
          </a:p>
          <a:p>
            <a:pPr marL="0" indent="0" algn="ctr">
              <a:lnSpc>
                <a:spcPct val="118000"/>
              </a:lnSpc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transcription starts</a:t>
            </a:r>
            <a:endParaRPr lang="en-US" sz="1000" dirty="0"/>
          </a:p>
          <a:p>
            <a:pPr marL="0" indent="0" algn="ctr">
              <a:lnSpc>
                <a:spcPct val="118000"/>
              </a:lnSpc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video</a:t>
            </a:r>
            <a:endParaRPr lang="en-US" sz="1000" dirty="0"/>
          </a:p>
          <a:p>
            <a:pPr marL="0" indent="0" algn="ctr">
              <a:lnSpc>
                <a:spcPct val="118000"/>
              </a:lnSpc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downloaded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64515" y="1572768"/>
            <a:ext cx="1469571" cy="2834640"/>
          </a:xfrm>
          <a:prstGeom prst="roundRect">
            <a:avLst>
              <a:gd name="adj" fmla="val 4978"/>
            </a:avLst>
          </a:prstGeom>
          <a:solidFill>
            <a:srgbClr val="F4F5FA"/>
          </a:solidFill>
          <a:ln w="12700">
            <a:solidFill>
              <a:srgbClr val="F4F5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164515" y="1700784"/>
            <a:ext cx="14695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164515" y="1975104"/>
            <a:ext cx="14695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Transcribe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255955" y="2340864"/>
            <a:ext cx="1286691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8000"/>
              </a:lnSpc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faster-whisper,</a:t>
            </a:r>
            <a:endParaRPr lang="en-US" sz="1000" dirty="0"/>
          </a:p>
          <a:p>
            <a:pPr marL="0" indent="0" algn="ctr">
              <a:lnSpc>
                <a:spcPct val="118000"/>
              </a:lnSpc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silence-split across</a:t>
            </a:r>
            <a:endParaRPr lang="en-US" sz="1000" dirty="0"/>
          </a:p>
          <a:p>
            <a:pPr marL="0" indent="0" algn="ctr">
              <a:lnSpc>
                <a:spcPct val="118000"/>
              </a:lnSpc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parallel chunks,</a:t>
            </a:r>
            <a:endParaRPr lang="en-US" sz="1000" dirty="0"/>
          </a:p>
          <a:p>
            <a:pPr marL="0" indent="0" algn="ctr">
              <a:lnSpc>
                <a:spcPct val="118000"/>
              </a:lnSpc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auto-detect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762103" y="1572768"/>
            <a:ext cx="1469571" cy="2834640"/>
          </a:xfrm>
          <a:prstGeom prst="roundRect">
            <a:avLst>
              <a:gd name="adj" fmla="val 4978"/>
            </a:avLst>
          </a:prstGeom>
          <a:solidFill>
            <a:srgbClr val="F4F5FA"/>
          </a:solidFill>
          <a:ln w="12700">
            <a:solidFill>
              <a:srgbClr val="F4F5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762103" y="1700784"/>
            <a:ext cx="14695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762103" y="1975104"/>
            <a:ext cx="14695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853543" y="2340864"/>
            <a:ext cx="1286691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8000"/>
              </a:lnSpc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segmentation,</a:t>
            </a:r>
            <a:endParaRPr lang="en-US" sz="1000" dirty="0"/>
          </a:p>
          <a:p>
            <a:pPr marL="0" indent="0" algn="ctr">
              <a:lnSpc>
                <a:spcPct val="118000"/>
              </a:lnSpc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YOLOv8n, CLIP,</a:t>
            </a:r>
            <a:endParaRPr lang="en-US" sz="1000" dirty="0"/>
          </a:p>
          <a:p>
            <a:pPr marL="0" indent="0" algn="ctr">
              <a:lnSpc>
                <a:spcPct val="118000"/>
              </a:lnSpc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EasyOCR on</a:t>
            </a:r>
            <a:endParaRPr lang="en-US" sz="1000" dirty="0"/>
          </a:p>
          <a:p>
            <a:pPr marL="0" indent="0" algn="ctr">
              <a:lnSpc>
                <a:spcPct val="118000"/>
              </a:lnSpc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keyframes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359690" y="1572768"/>
            <a:ext cx="1469571" cy="2834640"/>
          </a:xfrm>
          <a:prstGeom prst="roundRect">
            <a:avLst>
              <a:gd name="adj" fmla="val 4978"/>
            </a:avLst>
          </a:prstGeom>
          <a:solidFill>
            <a:srgbClr val="F4F5FA"/>
          </a:solidFill>
          <a:ln w="12700">
            <a:solidFill>
              <a:srgbClr val="F4F5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59690" y="1700784"/>
            <a:ext cx="14695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359690" y="1975104"/>
            <a:ext cx="14695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51130" y="2340864"/>
            <a:ext cx="1286691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8000"/>
              </a:lnSpc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transcript</a:t>
            </a:r>
            <a:endParaRPr lang="en-US" sz="1000" dirty="0"/>
          </a:p>
          <a:p>
            <a:pPr marL="0" indent="0" algn="ctr">
              <a:lnSpc>
                <a:spcPct val="118000"/>
              </a:lnSpc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segments to the</a:t>
            </a:r>
            <a:endParaRPr lang="en-US" sz="1000" dirty="0"/>
          </a:p>
          <a:p>
            <a:pPr marL="0" indent="0" algn="ctr">
              <a:lnSpc>
                <a:spcPct val="118000"/>
              </a:lnSpc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scenes they</a:t>
            </a:r>
            <a:endParaRPr lang="en-US" sz="1000" dirty="0"/>
          </a:p>
          <a:p>
            <a:pPr marL="0" indent="0" algn="ctr">
              <a:lnSpc>
                <a:spcPct val="118000"/>
              </a:lnSpc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belong to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57278" y="1572768"/>
            <a:ext cx="1469571" cy="2834640"/>
          </a:xfrm>
          <a:prstGeom prst="roundRect">
            <a:avLst>
              <a:gd name="adj" fmla="val 4978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957278" y="1700784"/>
            <a:ext cx="14695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F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M5′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957278" y="1975104"/>
            <a:ext cx="14695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048718" y="2340864"/>
            <a:ext cx="1286691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8000"/>
              </a:lnSpc>
              <a:buNone/>
            </a:pPr>
            <a:r>
              <a:rPr lang="en-US" sz="1000" dirty="0">
                <a:solidFill>
                  <a:srgbClr val="AF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transcript +</a:t>
            </a:r>
            <a:endParaRPr lang="en-US" sz="1000" dirty="0"/>
          </a:p>
          <a:p>
            <a:pPr marL="0" indent="0" algn="ctr">
              <a:lnSpc>
                <a:spcPct val="118000"/>
              </a:lnSpc>
              <a:buNone/>
            </a:pPr>
            <a:r>
              <a:rPr lang="en-US" sz="1000" dirty="0">
                <a:solidFill>
                  <a:srgbClr val="AF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scenes + keyframes</a:t>
            </a:r>
            <a:endParaRPr lang="en-US" sz="1000" dirty="0"/>
          </a:p>
          <a:p>
            <a:pPr marL="0" indent="0" algn="ctr">
              <a:lnSpc>
                <a:spcPct val="118000"/>
              </a:lnSpc>
              <a:buNone/>
            </a:pPr>
            <a:r>
              <a:rPr lang="en-US" sz="1000" dirty="0">
                <a:solidFill>
                  <a:srgbClr val="AF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gemini-2.5-flash,</a:t>
            </a:r>
            <a:endParaRPr lang="en-US" sz="1000" dirty="0"/>
          </a:p>
          <a:p>
            <a:pPr marL="0" indent="0" algn="ctr">
              <a:lnSpc>
                <a:spcPct val="118000"/>
              </a:lnSpc>
              <a:buNone/>
            </a:pPr>
            <a:r>
              <a:rPr lang="en-US" sz="1000" dirty="0">
                <a:solidFill>
                  <a:srgbClr val="AF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windowed if long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554865" y="1572768"/>
            <a:ext cx="1469571" cy="2834640"/>
          </a:xfrm>
          <a:prstGeom prst="roundRect">
            <a:avLst>
              <a:gd name="adj" fmla="val 4978"/>
            </a:avLst>
          </a:prstGeom>
          <a:solidFill>
            <a:srgbClr val="F4F5FA"/>
          </a:solidFill>
          <a:ln w="12700">
            <a:solidFill>
              <a:srgbClr val="F4F5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554865" y="1700784"/>
            <a:ext cx="14695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M6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554865" y="1975104"/>
            <a:ext cx="14695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646305" y="2340864"/>
            <a:ext cx="1286691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8000"/>
              </a:lnSpc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over the</a:t>
            </a:r>
            <a:endParaRPr lang="en-US" sz="1000" dirty="0"/>
          </a:p>
          <a:p>
            <a:pPr marL="0" indent="0" algn="ctr">
              <a:lnSpc>
                <a:spcPct val="118000"/>
              </a:lnSpc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 for</a:t>
            </a:r>
            <a:endParaRPr lang="en-US" sz="1000" dirty="0"/>
          </a:p>
          <a:p>
            <a:pPr marL="0" indent="0" algn="ctr">
              <a:lnSpc>
                <a:spcPct val="118000"/>
              </a:lnSpc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grounded, cited</a:t>
            </a:r>
            <a:endParaRPr lang="en-US" sz="1000" dirty="0"/>
          </a:p>
          <a:p>
            <a:pPr marL="0" indent="0" algn="ctr">
              <a:lnSpc>
                <a:spcPct val="118000"/>
              </a:lnSpc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10152453" y="1572768"/>
            <a:ext cx="1469571" cy="2834640"/>
          </a:xfrm>
          <a:prstGeom prst="roundRect">
            <a:avLst>
              <a:gd name="adj" fmla="val 4978"/>
            </a:avLst>
          </a:prstGeom>
          <a:solidFill>
            <a:srgbClr val="F4F5FA"/>
          </a:solidFill>
          <a:ln w="12700">
            <a:solidFill>
              <a:srgbClr val="F4F5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152453" y="1700784"/>
            <a:ext cx="14695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M7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152453" y="1975104"/>
            <a:ext cx="14695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0243893" y="2340864"/>
            <a:ext cx="1286691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8000"/>
              </a:lnSpc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scene</a:t>
            </a:r>
            <a:endParaRPr lang="en-US" sz="1000" dirty="0"/>
          </a:p>
          <a:p>
            <a:pPr marL="0" indent="0" algn="ctr">
              <a:lnSpc>
                <a:spcPct val="118000"/>
              </a:lnSpc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importance drives</a:t>
            </a:r>
            <a:endParaRPr lang="en-US" sz="1000" dirty="0"/>
          </a:p>
          <a:p>
            <a:pPr marL="0" indent="0" algn="ctr">
              <a:lnSpc>
                <a:spcPct val="118000"/>
              </a:lnSpc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generated</a:t>
            </a:r>
            <a:endParaRPr lang="en-US" sz="1000" dirty="0"/>
          </a:p>
          <a:p>
            <a:pPr marL="0" indent="0" algn="ctr">
              <a:lnSpc>
                <a:spcPct val="118000"/>
              </a:lnSpc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 reel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4590288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 and M3 run concurrently, so vision is free until it exceeds transcription time. Without an API key, M5′ falls back to a local BART map-reduce.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5F14B-4BBC-D4A3-E1AD-251EBB8D0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3A530F9-6BBB-FB01-EBA1-AE767018B6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763" y="480721"/>
            <a:ext cx="11415413" cy="6035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87494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8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50976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perception model is pre-trained and CPU-only; M7 is the one we trained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536192"/>
            <a:ext cx="2599182" cy="2286000"/>
          </a:xfrm>
          <a:prstGeom prst="roundRect">
            <a:avLst>
              <a:gd name="adj" fmla="val 3200"/>
            </a:avLst>
          </a:prstGeom>
          <a:solidFill>
            <a:srgbClr val="F4F5FA"/>
          </a:solidFill>
          <a:ln w="12700">
            <a:solidFill>
              <a:srgbClr val="F4F5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737360"/>
            <a:ext cx="21602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86384" y="2103120"/>
            <a:ext cx="216027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faster-whisper (int8)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YOLOv8n @ 416px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ViT-B/32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EasyOCR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85566" y="1536192"/>
            <a:ext cx="2599182" cy="2286000"/>
          </a:xfrm>
          <a:prstGeom prst="roundRect">
            <a:avLst>
              <a:gd name="adj" fmla="val 3200"/>
            </a:avLst>
          </a:prstGeom>
          <a:solidFill>
            <a:srgbClr val="F4F5FA"/>
          </a:solidFill>
          <a:ln w="12700">
            <a:solidFill>
              <a:srgbClr val="F4F5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05022" y="1737360"/>
            <a:ext cx="21602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605022" y="2103120"/>
            <a:ext cx="216027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2.5 Flash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+ MiniLM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BART / flan-t5 fallback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04204" y="1536192"/>
            <a:ext cx="2599182" cy="2286000"/>
          </a:xfrm>
          <a:prstGeom prst="roundRect">
            <a:avLst>
              <a:gd name="adj" fmla="val 3200"/>
            </a:avLst>
          </a:prstGeom>
          <a:solidFill>
            <a:srgbClr val="F4F5FA"/>
          </a:solidFill>
          <a:ln w="12700">
            <a:solidFill>
              <a:srgbClr val="F4F5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23660" y="1737360"/>
            <a:ext cx="21602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23660" y="2103120"/>
            <a:ext cx="216027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SQLAlchemy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+ RQ workers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22842" y="1536192"/>
            <a:ext cx="2599182" cy="2286000"/>
          </a:xfrm>
          <a:prstGeom prst="roundRect">
            <a:avLst>
              <a:gd name="adj" fmla="val 3200"/>
            </a:avLst>
          </a:prstGeom>
          <a:solidFill>
            <a:srgbClr val="F4F5FA"/>
          </a:solidFill>
          <a:ln w="12700">
            <a:solidFill>
              <a:srgbClr val="F4F5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42298" y="1737360"/>
            <a:ext cx="21602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9242298" y="2103120"/>
            <a:ext cx="216027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15 + Tailwind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live progress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41148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10,790</a:t>
            </a:r>
            <a:endParaRPr lang="en-US" sz="38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4773168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Python</a:t>
            </a:r>
            <a:endParaRPr lang="en-US" sz="11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(core, server, ml, ui)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383280" y="41148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1,705</a:t>
            </a:r>
            <a:endParaRPr lang="en-US" sz="3800" dirty="0"/>
          </a:p>
        </p:txBody>
      </p:sp>
      <p:sp>
        <p:nvSpPr>
          <p:cNvPr id="19" name="Text 17"/>
          <p:cNvSpPr txBox="1"/>
          <p:nvPr/>
        </p:nvSpPr>
        <p:spPr>
          <a:xfrm>
            <a:off x="3383280" y="4773168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TypeScript</a:t>
            </a:r>
            <a:endParaRPr lang="en-US" sz="11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(Next.js frontend)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199632" y="41148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endParaRPr lang="en-US" sz="3800" dirty="0"/>
          </a:p>
        </p:txBody>
      </p:sp>
      <p:sp>
        <p:nvSpPr>
          <p:cNvPr id="21" name="Text 19"/>
          <p:cNvSpPr txBox="1"/>
          <p:nvPr/>
        </p:nvSpPr>
        <p:spPr>
          <a:xfrm>
            <a:off x="6199632" y="4773168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1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passing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9015984" y="41148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8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3800" dirty="0"/>
          </a:p>
        </p:txBody>
      </p:sp>
      <p:sp>
        <p:nvSpPr>
          <p:cNvPr id="23" name="Text 21"/>
          <p:cNvSpPr txBox="1"/>
          <p:nvPr/>
        </p:nvSpPr>
        <p:spPr>
          <a:xfrm>
            <a:off x="9015984" y="4773168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 on main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8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Status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50976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seven modules complete and running end to end; deployment and the report remain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6707856" cy="3566160"/>
          </a:xfrm>
          <a:prstGeom prst="roundRect">
            <a:avLst>
              <a:gd name="adj" fmla="val 2051"/>
            </a:avLst>
          </a:prstGeom>
          <a:solidFill>
            <a:srgbClr val="F4F5FA"/>
          </a:solidFill>
          <a:ln w="12700">
            <a:solidFill>
              <a:srgbClr val="F4F5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" y="17190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084832"/>
            <a:ext cx="615921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M1–M7 pipeline, end to end, with per-stage caching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understanding with windowing for long videos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 Q&amp;A: conversation history, cited timestamps, honest about going beyond the video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M7 scene-importance model trained and driving the highlight reel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service: jobs, SSE progress, uploads, auth, cancellation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frontend: light/dark, live progress, library, Q&amp;A, scenes, report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SLA scheduler, exercised on a real two-class worker fleet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494240" y="1517904"/>
            <a:ext cx="4127784" cy="3566160"/>
          </a:xfrm>
          <a:prstGeom prst="roundRect">
            <a:avLst>
              <a:gd name="adj" fmla="val 2051"/>
            </a:avLst>
          </a:prstGeom>
          <a:solidFill>
            <a:srgbClr val="F4F5FA"/>
          </a:solidFill>
          <a:ln w="12700">
            <a:solidFill>
              <a:srgbClr val="F4F5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68560" y="171907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768560" y="2084832"/>
            <a:ext cx="3579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deployment (config written; Vercel + container host)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project report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Wider evaluation across more video categories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5230368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is past the 60–75% expected at Review 2; what is left is deployment and documentation, not core function.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8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Meeting a Wall-Clock Budget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50976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planner probes the machine, self-calibrates from every run, and picks models to fit the target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6.3 min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231136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measured, end to end,</a:t>
            </a:r>
            <a:endParaRPr lang="en-US" sz="11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43-minute video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3401568" y="1572768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0.058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3401568" y="2231136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seconds of ASR per</a:t>
            </a:r>
            <a:endParaRPr lang="en-US" sz="11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of speech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36208" y="1572768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2.3×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6236208" y="2231136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after fixing</a:t>
            </a:r>
            <a:endParaRPr lang="en-US" sz="11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oversubscription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070848" y="1572768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37.8 s</a:t>
            </a:r>
            <a:endParaRPr lang="en-US" sz="3800" dirty="0"/>
          </a:p>
        </p:txBody>
      </p:sp>
      <p:sp>
        <p:nvSpPr>
          <p:cNvPr id="11" name="Text 9"/>
          <p:cNvSpPr txBox="1"/>
          <p:nvPr/>
        </p:nvSpPr>
        <p:spPr>
          <a:xfrm>
            <a:off x="9070848" y="2231136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ingest, once audio is</a:t>
            </a:r>
            <a:endParaRPr lang="en-US" sz="11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fetched before video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3200400"/>
            <a:ext cx="11055096" cy="1810512"/>
          </a:xfrm>
          <a:prstGeom prst="roundRect">
            <a:avLst>
              <a:gd name="adj" fmla="val 4040"/>
            </a:avLst>
          </a:prstGeom>
          <a:solidFill>
            <a:srgbClr val="F4F5FA"/>
          </a:solidFill>
          <a:ln w="12700">
            <a:solidFill>
              <a:srgbClr val="F4F5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" y="3364992"/>
            <a:ext cx="10506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end-to-end time on the development machine (16-core, CPU-only)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" y="373075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" y="3968496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3.7 min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3467862" y="373075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hour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467862" y="3968496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7.3 min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094476" y="373075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hours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094476" y="3968496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14.7 min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8721090" y="373075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hours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721090" y="3968496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22.0 min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" y="4462272"/>
            <a:ext cx="10506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Non-English videos need translation and run roughly 1.5× longer. Times are download-dependent; ingest is calibrated per machine.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8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Demonstration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50976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will be shown live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50920" cy="1554480"/>
          </a:xfrm>
          <a:prstGeom prst="roundRect">
            <a:avLst>
              <a:gd name="adj" fmla="val 4706"/>
            </a:avLst>
          </a:prstGeom>
          <a:solidFill>
            <a:srgbClr val="F4F5FA"/>
          </a:solidFill>
          <a:ln w="12700">
            <a:solidFill>
              <a:srgbClr val="F4F5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810512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353312" y="1792224"/>
            <a:ext cx="2526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a video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353312" y="2084832"/>
            <a:ext cx="25267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a URL, pick the video type and topic, choose a processing profile.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9016" y="1554480"/>
            <a:ext cx="3550920" cy="1554480"/>
          </a:xfrm>
          <a:prstGeom prst="roundRect">
            <a:avLst>
              <a:gd name="adj" fmla="val 4706"/>
            </a:avLst>
          </a:prstGeom>
          <a:solidFill>
            <a:srgbClr val="F4F5FA"/>
          </a:solidFill>
          <a:ln w="12700">
            <a:solidFill>
              <a:srgbClr val="F4F5F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56760" y="1810512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5676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105400" y="1792224"/>
            <a:ext cx="2526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it process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105400" y="2084832"/>
            <a:ext cx="25267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per-stage progress over SSE, with the routed worker class and predicted time.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71104" y="1554480"/>
            <a:ext cx="3550920" cy="1554480"/>
          </a:xfrm>
          <a:prstGeom prst="roundRect">
            <a:avLst>
              <a:gd name="adj" fmla="val 4706"/>
            </a:avLst>
          </a:prstGeom>
          <a:solidFill>
            <a:srgbClr val="F4F5FA"/>
          </a:solidFill>
          <a:ln w="12700">
            <a:solidFill>
              <a:srgbClr val="F4F5F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08848" y="1810512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08848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857488" y="1792224"/>
            <a:ext cx="2526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explanation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857488" y="2084832"/>
            <a:ext cx="25267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Section-by-section teaching with timestamps, added-context badges, glossary.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3346704"/>
            <a:ext cx="3550920" cy="1554480"/>
          </a:xfrm>
          <a:prstGeom prst="roundRect">
            <a:avLst>
              <a:gd name="adj" fmla="val 4706"/>
            </a:avLst>
          </a:prstGeom>
          <a:solidFill>
            <a:srgbClr val="F4F5FA"/>
          </a:solidFill>
          <a:ln w="12700">
            <a:solidFill>
              <a:srgbClr val="F4F5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04672" y="3602736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4672" y="3602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353312" y="3584448"/>
            <a:ext cx="2526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 and code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353312" y="3877056"/>
            <a:ext cx="25267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coding video: the algorithm, complexity, and Python / Java / C++ / JavaScript.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319016" y="3346704"/>
            <a:ext cx="3550920" cy="1554480"/>
          </a:xfrm>
          <a:prstGeom prst="roundRect">
            <a:avLst>
              <a:gd name="adj" fmla="val 4706"/>
            </a:avLst>
          </a:prstGeom>
          <a:solidFill>
            <a:srgbClr val="F4F5FA"/>
          </a:solidFill>
          <a:ln w="12700">
            <a:solidFill>
              <a:srgbClr val="F4F5F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56760" y="3602736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56760" y="3602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105400" y="3584448"/>
            <a:ext cx="2526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On-screen material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5105400" y="3877056"/>
            <a:ext cx="25267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Keyframes with extracted text and an explanation of each slide or board.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071104" y="3346704"/>
            <a:ext cx="3550920" cy="1554480"/>
          </a:xfrm>
          <a:prstGeom prst="roundRect">
            <a:avLst>
              <a:gd name="adj" fmla="val 4706"/>
            </a:avLst>
          </a:prstGeom>
          <a:solidFill>
            <a:srgbClr val="F4F5FA"/>
          </a:solidFill>
          <a:ln w="12700">
            <a:solidFill>
              <a:srgbClr val="F4F5F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08848" y="3602736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308848" y="3602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857488" y="3584448"/>
            <a:ext cx="2526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doubt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857488" y="3877056"/>
            <a:ext cx="25267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questions with conversation history and cited timestamps.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5266944"/>
            <a:ext cx="11055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Backup: several videos are already processed and cached, so the demonstration does not depend on the venue network.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FF61428-48BD-B55D-22BD-A95A72D4A37B}"/>
              </a:ext>
            </a:extLst>
          </p:cNvPr>
          <p:cNvSpPr txBox="1"/>
          <p:nvPr/>
        </p:nvSpPr>
        <p:spPr>
          <a:xfrm>
            <a:off x="786384" y="402336"/>
            <a:ext cx="2514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dirty="0">
                <a:latin typeface="Arial Black" panose="020B0A04020102020204" pitchFamily="34" charset="0"/>
              </a:rPr>
              <a:t>Home UI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082073-41C4-11FA-B18A-02352028CD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1328" y="920170"/>
            <a:ext cx="8311895" cy="5640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5714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81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Outcome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50976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measured, and what we are not claiming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81244" cy="3200400"/>
          </a:xfrm>
          <a:prstGeom prst="roundRect">
            <a:avLst>
              <a:gd name="adj" fmla="val 2286"/>
            </a:avLst>
          </a:prstGeom>
          <a:solidFill>
            <a:srgbClr val="F4F5FA"/>
          </a:solidFill>
          <a:ln w="12700">
            <a:solidFill>
              <a:srgbClr val="F4F5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" y="17190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Achieved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103120"/>
            <a:ext cx="483260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 a reader can learn from, without watching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Density held constant from 10 minutes to 12 hours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43-minute video processed end to end in 6.3 minutes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Importance model at human-level agreement on TVSum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 evidence recorded over 20 real jobs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40780" y="1517904"/>
            <a:ext cx="5381244" cy="3200400"/>
          </a:xfrm>
          <a:prstGeom prst="roundRect">
            <a:avLst>
              <a:gd name="adj" fmla="val 2286"/>
            </a:avLst>
          </a:prstGeom>
          <a:solidFill>
            <a:srgbClr val="F4F5FA"/>
          </a:solidFill>
          <a:ln w="12700">
            <a:solidFill>
              <a:srgbClr val="F4F5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15100" y="17190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claimed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515100" y="2103120"/>
            <a:ext cx="483260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 quality depends on an external LLM API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Timings are for English; translation costs ~1.5×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is not comparable to published SumMe / TVSum numbers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 baselines are predictions, not measurements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81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CPU-only; a GPU would change transcription by 5–10×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956048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cloud deployment, the final report, and evaluation across more video categories — ahead of the Final Review in late October 2026.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</TotalTime>
  <Words>1620</Words>
  <Application>Microsoft Office PowerPoint</Application>
  <PresentationFormat>Widescreen</PresentationFormat>
  <Paragraphs>212</Paragraphs>
  <Slides>14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Arial Black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AI-Based Video Summarization System — Review 2</dc:title>
  <dc:subject>PptxGenJS Presentation</dc:subject>
  <dc:creator>Jaivardhan Singh, Sujay Chand, Harshit Raj</dc:creator>
  <cp:lastModifiedBy>JAIVARDHAN SINGH</cp:lastModifiedBy>
  <cp:revision>1</cp:revision>
  <dcterms:created xsi:type="dcterms:W3CDTF">2026-09-08T16:51:24Z</dcterms:created>
  <dcterms:modified xsi:type="dcterms:W3CDTF">2026-09-09T07:14:24Z</dcterms:modified>
</cp:coreProperties>
</file>
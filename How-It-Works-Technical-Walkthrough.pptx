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7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VARDHAN SINGH" userId="8865726eb2f8dd13" providerId="LiveId" clId="{AB458706-3EE5-4837-9EBB-750A96EEAAE8}"/>
    <pc:docChg chg="custSel delSld modSld">
      <pc:chgData name="JAIVARDHAN SINGH" userId="8865726eb2f8dd13" providerId="LiveId" clId="{AB458706-3EE5-4837-9EBB-750A96EEAAE8}" dt="2026-09-09T04:44:35.988" v="20" actId="47"/>
      <pc:docMkLst>
        <pc:docMk/>
      </pc:docMkLst>
      <pc:sldChg chg="delSp modSp mod">
        <pc:chgData name="JAIVARDHAN SINGH" userId="8865726eb2f8dd13" providerId="LiveId" clId="{AB458706-3EE5-4837-9EBB-750A96EEAAE8}" dt="2026-09-09T03:54:16.261" v="8" actId="478"/>
        <pc:sldMkLst>
          <pc:docMk/>
          <pc:sldMk cId="0" sldId="257"/>
        </pc:sldMkLst>
        <pc:spChg chg="mod">
          <ac:chgData name="JAIVARDHAN SINGH" userId="8865726eb2f8dd13" providerId="LiveId" clId="{AB458706-3EE5-4837-9EBB-750A96EEAAE8}" dt="2026-09-09T03:53:57.910" v="3" actId="20577"/>
          <ac:spMkLst>
            <pc:docMk/>
            <pc:sldMk cId="0" sldId="257"/>
            <ac:spMk id="9" creationId="{00000000-0000-0000-0000-000000000000}"/>
          </ac:spMkLst>
        </pc:spChg>
        <pc:spChg chg="del">
          <ac:chgData name="JAIVARDHAN SINGH" userId="8865726eb2f8dd13" providerId="LiveId" clId="{AB458706-3EE5-4837-9EBB-750A96EEAAE8}" dt="2026-09-09T03:54:01.813" v="4" actId="478"/>
          <ac:spMkLst>
            <pc:docMk/>
            <pc:sldMk cId="0" sldId="257"/>
            <ac:spMk id="15" creationId="{00000000-0000-0000-0000-000000000000}"/>
          </ac:spMkLst>
        </pc:spChg>
        <pc:spChg chg="del">
          <ac:chgData name="JAIVARDHAN SINGH" userId="8865726eb2f8dd13" providerId="LiveId" clId="{AB458706-3EE5-4837-9EBB-750A96EEAAE8}" dt="2026-09-09T03:54:05.465" v="5" actId="478"/>
          <ac:spMkLst>
            <pc:docMk/>
            <pc:sldMk cId="0" sldId="257"/>
            <ac:spMk id="21" creationId="{00000000-0000-0000-0000-000000000000}"/>
          </ac:spMkLst>
        </pc:spChg>
        <pc:spChg chg="del">
          <ac:chgData name="JAIVARDHAN SINGH" userId="8865726eb2f8dd13" providerId="LiveId" clId="{AB458706-3EE5-4837-9EBB-750A96EEAAE8}" dt="2026-09-09T03:54:09.022" v="6" actId="478"/>
          <ac:spMkLst>
            <pc:docMk/>
            <pc:sldMk cId="0" sldId="257"/>
            <ac:spMk id="27" creationId="{00000000-0000-0000-0000-000000000000}"/>
          </ac:spMkLst>
        </pc:spChg>
        <pc:spChg chg="del">
          <ac:chgData name="JAIVARDHAN SINGH" userId="8865726eb2f8dd13" providerId="LiveId" clId="{AB458706-3EE5-4837-9EBB-750A96EEAAE8}" dt="2026-09-09T03:54:12.607" v="7" actId="478"/>
          <ac:spMkLst>
            <pc:docMk/>
            <pc:sldMk cId="0" sldId="257"/>
            <ac:spMk id="33" creationId="{00000000-0000-0000-0000-000000000000}"/>
          </ac:spMkLst>
        </pc:spChg>
        <pc:spChg chg="del">
          <ac:chgData name="JAIVARDHAN SINGH" userId="8865726eb2f8dd13" providerId="LiveId" clId="{AB458706-3EE5-4837-9EBB-750A96EEAAE8}" dt="2026-09-09T03:54:16.261" v="8" actId="478"/>
          <ac:spMkLst>
            <pc:docMk/>
            <pc:sldMk cId="0" sldId="257"/>
            <ac:spMk id="39" creationId="{00000000-0000-0000-0000-000000000000}"/>
          </ac:spMkLst>
        </pc:spChg>
      </pc:sldChg>
      <pc:sldChg chg="del">
        <pc:chgData name="JAIVARDHAN SINGH" userId="8865726eb2f8dd13" providerId="LiveId" clId="{AB458706-3EE5-4837-9EBB-750A96EEAAE8}" dt="2026-09-09T04:44:26.979" v="14" actId="47"/>
        <pc:sldMkLst>
          <pc:docMk/>
          <pc:sldMk cId="0" sldId="260"/>
        </pc:sldMkLst>
      </pc:sldChg>
      <pc:sldChg chg="del">
        <pc:chgData name="JAIVARDHAN SINGH" userId="8865726eb2f8dd13" providerId="LiveId" clId="{AB458706-3EE5-4837-9EBB-750A96EEAAE8}" dt="2026-09-09T04:44:28.552" v="15" actId="47"/>
        <pc:sldMkLst>
          <pc:docMk/>
          <pc:sldMk cId="0" sldId="261"/>
        </pc:sldMkLst>
      </pc:sldChg>
      <pc:sldChg chg="del">
        <pc:chgData name="JAIVARDHAN SINGH" userId="8865726eb2f8dd13" providerId="LiveId" clId="{AB458706-3EE5-4837-9EBB-750A96EEAAE8}" dt="2026-09-09T04:44:29.881" v="16" actId="47"/>
        <pc:sldMkLst>
          <pc:docMk/>
          <pc:sldMk cId="0" sldId="262"/>
        </pc:sldMkLst>
      </pc:sldChg>
      <pc:sldChg chg="del">
        <pc:chgData name="JAIVARDHAN SINGH" userId="8865726eb2f8dd13" providerId="LiveId" clId="{AB458706-3EE5-4837-9EBB-750A96EEAAE8}" dt="2026-09-09T04:44:30.618" v="17" actId="47"/>
        <pc:sldMkLst>
          <pc:docMk/>
          <pc:sldMk cId="0" sldId="263"/>
        </pc:sldMkLst>
      </pc:sldChg>
      <pc:sldChg chg="del">
        <pc:chgData name="JAIVARDHAN SINGH" userId="8865726eb2f8dd13" providerId="LiveId" clId="{AB458706-3EE5-4837-9EBB-750A96EEAAE8}" dt="2026-09-09T04:44:31.839" v="18" actId="47"/>
        <pc:sldMkLst>
          <pc:docMk/>
          <pc:sldMk cId="0" sldId="264"/>
        </pc:sldMkLst>
      </pc:sldChg>
      <pc:sldChg chg="del">
        <pc:chgData name="JAIVARDHAN SINGH" userId="8865726eb2f8dd13" providerId="LiveId" clId="{AB458706-3EE5-4837-9EBB-750A96EEAAE8}" dt="2026-09-09T04:44:33.702" v="19" actId="47"/>
        <pc:sldMkLst>
          <pc:docMk/>
          <pc:sldMk cId="0" sldId="265"/>
        </pc:sldMkLst>
      </pc:sldChg>
      <pc:sldChg chg="del">
        <pc:chgData name="JAIVARDHAN SINGH" userId="8865726eb2f8dd13" providerId="LiveId" clId="{AB458706-3EE5-4837-9EBB-750A96EEAAE8}" dt="2026-09-09T04:44:35.988" v="20" actId="47"/>
        <pc:sldMkLst>
          <pc:docMk/>
          <pc:sldMk cId="0" sldId="266"/>
        </pc:sldMkLst>
      </pc:sldChg>
      <pc:sldChg chg="del">
        <pc:chgData name="JAIVARDHAN SINGH" userId="8865726eb2f8dd13" providerId="LiveId" clId="{AB458706-3EE5-4837-9EBB-750A96EEAAE8}" dt="2026-09-09T04:44:18.614" v="13" actId="47"/>
        <pc:sldMkLst>
          <pc:docMk/>
          <pc:sldMk cId="0" sldId="267"/>
        </pc:sldMkLst>
      </pc:sldChg>
      <pc:sldChg chg="del">
        <pc:chgData name="JAIVARDHAN SINGH" userId="8865726eb2f8dd13" providerId="LiveId" clId="{AB458706-3EE5-4837-9EBB-750A96EEAAE8}" dt="2026-09-09T04:44:15.935" v="12" actId="47"/>
        <pc:sldMkLst>
          <pc:docMk/>
          <pc:sldMk cId="0" sldId="268"/>
        </pc:sldMkLst>
      </pc:sldChg>
      <pc:sldChg chg="del">
        <pc:chgData name="JAIVARDHAN SINGH" userId="8865726eb2f8dd13" providerId="LiveId" clId="{AB458706-3EE5-4837-9EBB-750A96EEAAE8}" dt="2026-09-09T04:44:13.344" v="11" actId="47"/>
        <pc:sldMkLst>
          <pc:docMk/>
          <pc:sldMk cId="0" sldId="269"/>
        </pc:sldMkLst>
      </pc:sldChg>
      <pc:sldChg chg="del">
        <pc:chgData name="JAIVARDHAN SINGH" userId="8865726eb2f8dd13" providerId="LiveId" clId="{AB458706-3EE5-4837-9EBB-750A96EEAAE8}" dt="2026-09-09T04:44:02.493" v="10" actId="47"/>
        <pc:sldMkLst>
          <pc:docMk/>
          <pc:sldMk cId="0" sldId="270"/>
        </pc:sldMkLst>
      </pc:sldChg>
      <pc:sldChg chg="del">
        <pc:chgData name="JAIVARDHAN SINGH" userId="8865726eb2f8dd13" providerId="LiveId" clId="{AB458706-3EE5-4837-9EBB-750A96EEAAE8}" dt="2026-09-09T04:43:59.023" v="9" actId="47"/>
        <pc:sldMkLst>
          <pc:docMk/>
          <pc:sldMk cId="0" sldId="27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FFFFF"/>
                </a:solidFill>
                <a:latin typeface="Cambria"/>
              </a:defRPr>
            </a:pPr>
            <a:r>
              <a:rPr lang="en-IN" sz="1300" b="0" i="0" u="none" strike="noStrike">
                <a:solidFill>
                  <a:srgbClr val="FFFFFF"/>
                </a:solidFill>
                <a:latin typeface="Cambria"/>
              </a:rPr>
              <a:t>Default budget split  (%)</a:t>
            </a:r>
          </a:p>
        </c:rich>
      </c:tx>
      <c:overlay val="0"/>
    </c:title>
    <c:autoTitleDeleted val="0"/>
    <c:plotArea>
      <c:layout/>
      <c:barChart>
        <c:barDir val="bar"/>
        <c:grouping val="clustered"/>
        <c:varyColors val="0"/>
        <c:ser>
          <c:idx val="0"/>
          <c:order val="0"/>
          <c:tx>
            <c:strRef>
              <c:f>Sheet1!$B$1</c:f>
              <c:strCache>
                <c:ptCount val="1"/>
                <c:pt idx="0">
                  <c:v>Share of budget</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F277-4FE7-9459-FDA016DE9595}"/>
              </c:ext>
            </c:extLst>
          </c:dPt>
          <c:dPt>
            <c:idx val="1"/>
            <c:invertIfNegative val="0"/>
            <c:bubble3D val="0"/>
            <c:spPr>
              <a:solidFill>
                <a:srgbClr val="D98C20"/>
              </a:solidFill>
              <a:effectLst/>
            </c:spPr>
            <c:extLst>
              <c:ext xmlns:c16="http://schemas.microsoft.com/office/drawing/2014/chart" uri="{C3380CC4-5D6E-409C-BE32-E72D297353CC}">
                <c16:uniqueId val="{00000003-F277-4FE7-9459-FDA016DE9595}"/>
              </c:ext>
            </c:extLst>
          </c:dPt>
          <c:dPt>
            <c:idx val="2"/>
            <c:invertIfNegative val="0"/>
            <c:bubble3D val="0"/>
            <c:extLst>
              <c:ext xmlns:c16="http://schemas.microsoft.com/office/drawing/2014/chart" uri="{C3380CC4-5D6E-409C-BE32-E72D297353CC}">
                <c16:uniqueId val="{00000005-F277-4FE7-9459-FDA016DE9595}"/>
              </c:ext>
            </c:extLst>
          </c:dPt>
          <c:dPt>
            <c:idx val="3"/>
            <c:invertIfNegative val="0"/>
            <c:bubble3D val="0"/>
            <c:extLst>
              <c:ext xmlns:c16="http://schemas.microsoft.com/office/drawing/2014/chart" uri="{C3380CC4-5D6E-409C-BE32-E72D297353CC}">
                <c16:uniqueId val="{00000007-F277-4FE7-9459-FDA016DE9595}"/>
              </c:ext>
            </c:extLst>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Ingest</c:v>
                </c:pt>
                <c:pt idx="1">
                  <c:v>Analyze</c:v>
                </c:pt>
                <c:pt idx="2">
                  <c:v>Summarize</c:v>
                </c:pt>
                <c:pt idx="3">
                  <c:v>Index</c:v>
                </c:pt>
              </c:strCache>
            </c:strRef>
          </c:cat>
          <c:val>
            <c:numRef>
              <c:f>Sheet1!$B$2:$B$5</c:f>
              <c:numCache>
                <c:formatCode>General</c:formatCode>
                <c:ptCount val="4"/>
                <c:pt idx="0">
                  <c:v>20</c:v>
                </c:pt>
                <c:pt idx="1">
                  <c:v>45</c:v>
                </c:pt>
                <c:pt idx="2">
                  <c:v>28</c:v>
                </c:pt>
                <c:pt idx="3">
                  <c:v>5</c:v>
                </c:pt>
              </c:numCache>
            </c:numRef>
          </c:val>
          <c:extLst>
            <c:ext xmlns:c16="http://schemas.microsoft.com/office/drawing/2014/chart" uri="{C3380CC4-5D6E-409C-BE32-E72D297353CC}">
              <c16:uniqueId val="{00000008-F277-4FE7-9459-FDA016DE959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FB3C4"/>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68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how, not the what. I will follow one video all the way through the system: seven stages, what each one is given, what it produces, and which model does the work. Every timing on these slides was measured on my own laptop, CPU only, sixteen cores.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modules. The important structural point is that each writes a JSON file the next one reads, so nothing is held in memory across stages. That is what lets a run resume after a failure, and what makes reopening a processed video instant. Note that vision is free in wall-clock terms because it hides inside transcription.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tier does no machine learning at all. Its whole job is to accept the request without blocking, put it on a queue, and stream progress back. The scheduler in the middle is the piece we are claiming as novel - it predicts which class of worker can still hit the deadline and picks the cheapest one that can.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piece that makes published processing times possible. Instead of fixing the models and hoping, we fix the deadline and choose models to fit it. And because it measures itself after every run, it gets more accurate on your machine specifically rather than staying calibrated to 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wants one slide to photograph, it is this one. The line to land at the end: everything runs on CPU, there is no GPU anywhere, and the only remote call is the understanding model - and even that has a working offline fallback.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a:effectLst/>
      </p:bgPr>
    </p:bg>
    <p:spTree>
      <p:nvGrpSpPr>
        <p:cNvPr id="1" name=""/>
        <p:cNvGrpSpPr/>
        <p:nvPr/>
      </p:nvGrpSpPr>
      <p:grpSpPr>
        <a:xfrm>
          <a:off x="0" y="0"/>
          <a:ext cx="0" cy="0"/>
          <a:chOff x="0" y="0"/>
          <a:chExt cx="0" cy="0"/>
        </a:xfrm>
      </p:grpSpPr>
      <p:sp>
        <p:nvSpPr>
          <p:cNvPr id="2" name="Text 0"/>
          <p:cNvSpPr txBox="1"/>
          <p:nvPr/>
        </p:nvSpPr>
        <p:spPr>
          <a:xfrm>
            <a:off x="502920" y="1051560"/>
            <a:ext cx="11183112" cy="274320"/>
          </a:xfrm>
          <a:prstGeom prst="rect">
            <a:avLst/>
          </a:prstGeom>
          <a:noFill/>
          <a:ln/>
        </p:spPr>
        <p:txBody>
          <a:bodyPr wrap="square" lIns="0" tIns="0" rIns="0" bIns="0" rtlCol="0" anchor="ctr"/>
          <a:lstStyle/>
          <a:p>
            <a:pPr marL="0" indent="0">
              <a:buNone/>
            </a:pPr>
            <a:r>
              <a:rPr lang="en-US" sz="1150" b="1" kern="0" spc="200" dirty="0">
                <a:solidFill>
                  <a:srgbClr val="1C7293"/>
                </a:solidFill>
                <a:latin typeface="Calibri" pitchFamily="34" charset="0"/>
                <a:ea typeface="Calibri" pitchFamily="34" charset="-122"/>
                <a:cs typeface="Calibri" pitchFamily="34" charset="-120"/>
              </a:rPr>
              <a:t>PROJECT-I  ·  BCSE497J  ·  SCOPE, VIT VELLORE</a:t>
            </a:r>
            <a:endParaRPr lang="en-US" sz="1150" dirty="0"/>
          </a:p>
        </p:txBody>
      </p:sp>
      <p:sp>
        <p:nvSpPr>
          <p:cNvPr id="3" name="Text 1"/>
          <p:cNvSpPr txBox="1"/>
          <p:nvPr/>
        </p:nvSpPr>
        <p:spPr>
          <a:xfrm>
            <a:off x="502920" y="1444752"/>
            <a:ext cx="11183112"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How the System Works</a:t>
            </a:r>
            <a:endParaRPr lang="en-US" sz="5400" dirty="0"/>
          </a:p>
        </p:txBody>
      </p:sp>
      <p:sp>
        <p:nvSpPr>
          <p:cNvPr id="4" name="Text 2"/>
          <p:cNvSpPr txBox="1"/>
          <p:nvPr/>
        </p:nvSpPr>
        <p:spPr>
          <a:xfrm>
            <a:off x="502920" y="2395728"/>
            <a:ext cx="11183112" cy="411480"/>
          </a:xfrm>
          <a:prstGeom prst="rect">
            <a:avLst/>
          </a:prstGeom>
          <a:noFill/>
          <a:ln/>
        </p:spPr>
        <p:txBody>
          <a:bodyPr wrap="square" lIns="0" tIns="0" rIns="0" bIns="0" rtlCol="0" anchor="ctr"/>
          <a:lstStyle/>
          <a:p>
            <a:pPr marL="0" indent="0">
              <a:buNone/>
            </a:pPr>
            <a:r>
              <a:rPr lang="en-US" sz="2200" dirty="0">
                <a:solidFill>
                  <a:srgbClr val="D98C20"/>
                </a:solidFill>
                <a:latin typeface="Cambria" pitchFamily="34" charset="0"/>
                <a:ea typeface="Cambria" pitchFamily="34" charset="-122"/>
                <a:cs typeface="Cambria" pitchFamily="34" charset="-120"/>
              </a:rPr>
              <a:t>AI-Based Video Summarization System</a:t>
            </a:r>
            <a:endParaRPr lang="en-US" sz="2200" dirty="0"/>
          </a:p>
        </p:txBody>
      </p:sp>
      <p:sp>
        <p:nvSpPr>
          <p:cNvPr id="5" name="Text 3"/>
          <p:cNvSpPr txBox="1"/>
          <p:nvPr/>
        </p:nvSpPr>
        <p:spPr>
          <a:xfrm>
            <a:off x="502920" y="2926080"/>
            <a:ext cx="7863840" cy="731520"/>
          </a:xfrm>
          <a:prstGeom prst="rect">
            <a:avLst/>
          </a:prstGeom>
          <a:noFill/>
          <a:ln/>
        </p:spPr>
        <p:txBody>
          <a:bodyPr wrap="square" lIns="0" tIns="0" rIns="0" bIns="0" rtlCol="0" anchor="ctr"/>
          <a:lstStyle/>
          <a:p>
            <a:pPr marL="0" indent="0">
              <a:lnSpc>
                <a:spcPts val="2000"/>
              </a:lnSpc>
              <a:buNone/>
            </a:pPr>
            <a:r>
              <a:rPr lang="en-US" sz="1400" dirty="0">
                <a:solidFill>
                  <a:srgbClr val="9FB3C4"/>
                </a:solidFill>
                <a:latin typeface="Calibri" pitchFamily="34" charset="0"/>
                <a:ea typeface="Calibri" pitchFamily="34" charset="-122"/>
                <a:cs typeface="Calibri" pitchFamily="34" charset="-120"/>
              </a:rPr>
              <a:t>A stage-by-stage walkthrough: what happens to a video from the moment a link is pasted, what each stage produces, and which model or library does the work.</a:t>
            </a:r>
            <a:endParaRPr lang="en-US" sz="1400" dirty="0"/>
          </a:p>
        </p:txBody>
      </p:sp>
      <p:sp>
        <p:nvSpPr>
          <p:cNvPr id="6" name="Shape 4"/>
          <p:cNvSpPr/>
          <p:nvPr/>
        </p:nvSpPr>
        <p:spPr>
          <a:xfrm>
            <a:off x="996043" y="4041648"/>
            <a:ext cx="438912" cy="438912"/>
          </a:xfrm>
          <a:prstGeom prst="ellipse">
            <a:avLst/>
          </a:prstGeom>
          <a:solidFill>
            <a:srgbClr val="1C7293"/>
          </a:solidFill>
          <a:ln/>
        </p:spPr>
      </p:sp>
      <p:sp>
        <p:nvSpPr>
          <p:cNvPr id="7" name="Text 5"/>
          <p:cNvSpPr txBox="1"/>
          <p:nvPr/>
        </p:nvSpPr>
        <p:spPr>
          <a:xfrm>
            <a:off x="996043"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M1</a:t>
            </a:r>
            <a:endParaRPr lang="en-US" sz="1200" dirty="0"/>
          </a:p>
        </p:txBody>
      </p:sp>
      <p:sp>
        <p:nvSpPr>
          <p:cNvPr id="8" name="Text 6"/>
          <p:cNvSpPr txBox="1"/>
          <p:nvPr/>
        </p:nvSpPr>
        <p:spPr>
          <a:xfrm>
            <a:off x="502920"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Ingest</a:t>
            </a:r>
            <a:endParaRPr lang="en-US" sz="1100" dirty="0"/>
          </a:p>
        </p:txBody>
      </p:sp>
      <p:sp>
        <p:nvSpPr>
          <p:cNvPr id="9" name="Shape 7"/>
          <p:cNvSpPr/>
          <p:nvPr/>
        </p:nvSpPr>
        <p:spPr>
          <a:xfrm>
            <a:off x="2622369" y="4041648"/>
            <a:ext cx="438912" cy="438912"/>
          </a:xfrm>
          <a:prstGeom prst="ellipse">
            <a:avLst/>
          </a:prstGeom>
          <a:solidFill>
            <a:srgbClr val="1C7293"/>
          </a:solidFill>
          <a:ln/>
        </p:spPr>
      </p:sp>
      <p:sp>
        <p:nvSpPr>
          <p:cNvPr id="10" name="Text 8"/>
          <p:cNvSpPr txBox="1"/>
          <p:nvPr/>
        </p:nvSpPr>
        <p:spPr>
          <a:xfrm>
            <a:off x="2622369"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M2</a:t>
            </a:r>
            <a:endParaRPr lang="en-US" sz="1200" dirty="0"/>
          </a:p>
        </p:txBody>
      </p:sp>
      <p:sp>
        <p:nvSpPr>
          <p:cNvPr id="11" name="Text 9"/>
          <p:cNvSpPr txBox="1"/>
          <p:nvPr/>
        </p:nvSpPr>
        <p:spPr>
          <a:xfrm>
            <a:off x="2129246"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Transcribe</a:t>
            </a:r>
            <a:endParaRPr lang="en-US" sz="1100" dirty="0"/>
          </a:p>
        </p:txBody>
      </p:sp>
      <p:sp>
        <p:nvSpPr>
          <p:cNvPr id="12" name="Shape 10"/>
          <p:cNvSpPr/>
          <p:nvPr/>
        </p:nvSpPr>
        <p:spPr>
          <a:xfrm>
            <a:off x="4248694" y="4041648"/>
            <a:ext cx="438912" cy="438912"/>
          </a:xfrm>
          <a:prstGeom prst="ellipse">
            <a:avLst/>
          </a:prstGeom>
          <a:solidFill>
            <a:srgbClr val="1C7293"/>
          </a:solidFill>
          <a:ln/>
        </p:spPr>
      </p:sp>
      <p:sp>
        <p:nvSpPr>
          <p:cNvPr id="13" name="Text 11"/>
          <p:cNvSpPr txBox="1"/>
          <p:nvPr/>
        </p:nvSpPr>
        <p:spPr>
          <a:xfrm>
            <a:off x="4248694"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M3</a:t>
            </a:r>
            <a:endParaRPr lang="en-US" sz="1200" dirty="0"/>
          </a:p>
        </p:txBody>
      </p:sp>
      <p:sp>
        <p:nvSpPr>
          <p:cNvPr id="14" name="Text 12"/>
          <p:cNvSpPr txBox="1"/>
          <p:nvPr/>
        </p:nvSpPr>
        <p:spPr>
          <a:xfrm>
            <a:off x="3755571"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Vision</a:t>
            </a:r>
            <a:endParaRPr lang="en-US" sz="1100" dirty="0"/>
          </a:p>
        </p:txBody>
      </p:sp>
      <p:sp>
        <p:nvSpPr>
          <p:cNvPr id="15" name="Shape 13"/>
          <p:cNvSpPr/>
          <p:nvPr/>
        </p:nvSpPr>
        <p:spPr>
          <a:xfrm>
            <a:off x="5875020" y="4041648"/>
            <a:ext cx="438912" cy="438912"/>
          </a:xfrm>
          <a:prstGeom prst="ellipse">
            <a:avLst/>
          </a:prstGeom>
          <a:solidFill>
            <a:srgbClr val="1C7293"/>
          </a:solidFill>
          <a:ln/>
        </p:spPr>
      </p:sp>
      <p:sp>
        <p:nvSpPr>
          <p:cNvPr id="16" name="Text 14"/>
          <p:cNvSpPr txBox="1"/>
          <p:nvPr/>
        </p:nvSpPr>
        <p:spPr>
          <a:xfrm>
            <a:off x="5875020"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M4</a:t>
            </a:r>
            <a:endParaRPr lang="en-US" sz="1200" dirty="0"/>
          </a:p>
        </p:txBody>
      </p:sp>
      <p:sp>
        <p:nvSpPr>
          <p:cNvPr id="17" name="Text 15"/>
          <p:cNvSpPr txBox="1"/>
          <p:nvPr/>
        </p:nvSpPr>
        <p:spPr>
          <a:xfrm>
            <a:off x="5381897"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Fuse</a:t>
            </a:r>
            <a:endParaRPr lang="en-US" sz="1100" dirty="0"/>
          </a:p>
        </p:txBody>
      </p:sp>
      <p:sp>
        <p:nvSpPr>
          <p:cNvPr id="18" name="Shape 16"/>
          <p:cNvSpPr/>
          <p:nvPr/>
        </p:nvSpPr>
        <p:spPr>
          <a:xfrm>
            <a:off x="7501346" y="4041648"/>
            <a:ext cx="438912" cy="438912"/>
          </a:xfrm>
          <a:prstGeom prst="ellipse">
            <a:avLst/>
          </a:prstGeom>
          <a:solidFill>
            <a:srgbClr val="1C7293"/>
          </a:solidFill>
          <a:ln/>
        </p:spPr>
      </p:sp>
      <p:sp>
        <p:nvSpPr>
          <p:cNvPr id="19" name="Text 17"/>
          <p:cNvSpPr txBox="1"/>
          <p:nvPr/>
        </p:nvSpPr>
        <p:spPr>
          <a:xfrm>
            <a:off x="7501346"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M5</a:t>
            </a:r>
            <a:endParaRPr lang="en-US" sz="1200" dirty="0"/>
          </a:p>
        </p:txBody>
      </p:sp>
      <p:sp>
        <p:nvSpPr>
          <p:cNvPr id="20" name="Text 18"/>
          <p:cNvSpPr txBox="1"/>
          <p:nvPr/>
        </p:nvSpPr>
        <p:spPr>
          <a:xfrm>
            <a:off x="7008223"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Understand</a:t>
            </a:r>
            <a:endParaRPr lang="en-US" sz="1100" dirty="0"/>
          </a:p>
        </p:txBody>
      </p:sp>
      <p:sp>
        <p:nvSpPr>
          <p:cNvPr id="21" name="Shape 19"/>
          <p:cNvSpPr/>
          <p:nvPr/>
        </p:nvSpPr>
        <p:spPr>
          <a:xfrm>
            <a:off x="9127671" y="4041648"/>
            <a:ext cx="438912" cy="438912"/>
          </a:xfrm>
          <a:prstGeom prst="ellipse">
            <a:avLst/>
          </a:prstGeom>
          <a:solidFill>
            <a:srgbClr val="1C7293"/>
          </a:solidFill>
          <a:ln/>
        </p:spPr>
      </p:sp>
      <p:sp>
        <p:nvSpPr>
          <p:cNvPr id="22" name="Text 20"/>
          <p:cNvSpPr txBox="1"/>
          <p:nvPr/>
        </p:nvSpPr>
        <p:spPr>
          <a:xfrm>
            <a:off x="9127671"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M6</a:t>
            </a:r>
            <a:endParaRPr lang="en-US" sz="1200" dirty="0"/>
          </a:p>
        </p:txBody>
      </p:sp>
      <p:sp>
        <p:nvSpPr>
          <p:cNvPr id="23" name="Text 21"/>
          <p:cNvSpPr txBox="1"/>
          <p:nvPr/>
        </p:nvSpPr>
        <p:spPr>
          <a:xfrm>
            <a:off x="8634549"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Index</a:t>
            </a:r>
            <a:endParaRPr lang="en-US" sz="1100" dirty="0"/>
          </a:p>
        </p:txBody>
      </p:sp>
      <p:sp>
        <p:nvSpPr>
          <p:cNvPr id="24" name="Shape 22"/>
          <p:cNvSpPr/>
          <p:nvPr/>
        </p:nvSpPr>
        <p:spPr>
          <a:xfrm>
            <a:off x="10753997" y="4041648"/>
            <a:ext cx="438912" cy="438912"/>
          </a:xfrm>
          <a:prstGeom prst="ellipse">
            <a:avLst/>
          </a:prstGeom>
          <a:solidFill>
            <a:srgbClr val="1C7293"/>
          </a:solidFill>
          <a:ln/>
        </p:spPr>
      </p:sp>
      <p:sp>
        <p:nvSpPr>
          <p:cNvPr id="25" name="Text 23"/>
          <p:cNvSpPr txBox="1"/>
          <p:nvPr/>
        </p:nvSpPr>
        <p:spPr>
          <a:xfrm>
            <a:off x="10753997" y="404164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M7</a:t>
            </a:r>
            <a:endParaRPr lang="en-US" sz="1200" dirty="0"/>
          </a:p>
        </p:txBody>
      </p:sp>
      <p:sp>
        <p:nvSpPr>
          <p:cNvPr id="26" name="Text 24"/>
          <p:cNvSpPr txBox="1"/>
          <p:nvPr/>
        </p:nvSpPr>
        <p:spPr>
          <a:xfrm>
            <a:off x="10260874" y="4572000"/>
            <a:ext cx="1425158" cy="274320"/>
          </a:xfrm>
          <a:prstGeom prst="rect">
            <a:avLst/>
          </a:prstGeom>
          <a:noFill/>
          <a:ln/>
        </p:spPr>
        <p:txBody>
          <a:bodyPr wrap="square" lIns="0" tIns="0" rIns="0" bIns="0" rtlCol="0" anchor="ctr"/>
          <a:lstStyle/>
          <a:p>
            <a:pPr marL="0" indent="0" algn="ctr">
              <a:buNone/>
            </a:pPr>
            <a:r>
              <a:rPr lang="en-US" sz="1100" dirty="0">
                <a:solidFill>
                  <a:srgbClr val="9FB3C4"/>
                </a:solidFill>
                <a:latin typeface="Calibri" pitchFamily="34" charset="0"/>
                <a:ea typeface="Calibri" pitchFamily="34" charset="-122"/>
                <a:cs typeface="Calibri" pitchFamily="34" charset="-120"/>
              </a:rPr>
              <a:t>Highlight</a:t>
            </a:r>
            <a:endParaRPr lang="en-US" sz="1100" dirty="0"/>
          </a:p>
        </p:txBody>
      </p:sp>
      <p:sp>
        <p:nvSpPr>
          <p:cNvPr id="27" name="Text 25"/>
          <p:cNvSpPr txBox="1"/>
          <p:nvPr/>
        </p:nvSpPr>
        <p:spPr>
          <a:xfrm>
            <a:off x="502920" y="5715000"/>
            <a:ext cx="11183112" cy="640080"/>
          </a:xfrm>
          <a:prstGeom prst="rect">
            <a:avLst/>
          </a:prstGeom>
          <a:noFill/>
          <a:ln/>
        </p:spPr>
        <p:txBody>
          <a:bodyPr wrap="square" lIns="0" tIns="0" rIns="0" bIns="0" rtlCol="0" anchor="ctr"/>
          <a:lstStyle/>
          <a:p>
            <a:pPr marL="0" indent="0">
              <a:lnSpc>
                <a:spcPts val="1900"/>
              </a:lnSpc>
              <a:buNone/>
            </a:pPr>
            <a:r>
              <a:rPr lang="en-US" sz="1250" dirty="0">
                <a:solidFill>
                  <a:srgbClr val="FFFFFF"/>
                </a:solidFill>
                <a:latin typeface="Calibri" pitchFamily="34" charset="0"/>
                <a:ea typeface="Calibri" pitchFamily="34" charset="-122"/>
                <a:cs typeface="Calibri" pitchFamily="34" charset="-120"/>
              </a:rPr>
              <a:t>Jaivardhan Singh 23BCI0036   ·   Sujay Chand 23BCE0217   ·   Harshit Raj 23BCE0190
</a:t>
            </a:r>
            <a:r>
              <a:rPr lang="en-US" sz="1250" dirty="0">
                <a:solidFill>
                  <a:srgbClr val="9FB3C4"/>
                </a:solidFill>
                <a:latin typeface="Calibri" pitchFamily="34" charset="0"/>
                <a:ea typeface="Calibri" pitchFamily="34" charset="-122"/>
                <a:cs typeface="Calibri" pitchFamily="34" charset="-120"/>
              </a:rPr>
              <a:t>Guide: Dr. Deepa K, School of Computer Science and Engineering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3112" cy="502920"/>
          </a:xfrm>
          <a:prstGeom prst="rect">
            <a:avLst/>
          </a:prstGeom>
          <a:noFill/>
          <a:ln/>
        </p:spPr>
        <p:txBody>
          <a:bodyPr wrap="square" lIns="0" tIns="0" rIns="0" bIns="0" rtlCol="0" anchor="ctr"/>
          <a:lstStyle/>
          <a:p>
            <a:pPr marL="0" indent="0">
              <a:buNone/>
            </a:pPr>
            <a:r>
              <a:rPr lang="en-US" sz="3400" b="1" dirty="0">
                <a:solidFill>
                  <a:srgbClr val="13202E"/>
                </a:solidFill>
                <a:latin typeface="Cambria" pitchFamily="34" charset="0"/>
                <a:ea typeface="Cambria" pitchFamily="34" charset="-122"/>
                <a:cs typeface="Cambria" pitchFamily="34" charset="-120"/>
              </a:rPr>
              <a:t>One video, seven stages</a:t>
            </a:r>
            <a:endParaRPr lang="en-US" sz="3400" dirty="0"/>
          </a:p>
        </p:txBody>
      </p:sp>
      <p:sp>
        <p:nvSpPr>
          <p:cNvPr id="3" name="Text 1"/>
          <p:cNvSpPr txBox="1"/>
          <p:nvPr/>
        </p:nvSpPr>
        <p:spPr>
          <a:xfrm>
            <a:off x="502920" y="941832"/>
            <a:ext cx="11183112" cy="292608"/>
          </a:xfrm>
          <a:prstGeom prst="rect">
            <a:avLst/>
          </a:prstGeom>
          <a:noFill/>
          <a:ln/>
        </p:spPr>
        <p:txBody>
          <a:bodyPr wrap="square" lIns="0" tIns="0" rIns="0" bIns="0" rtlCol="0" anchor="ctr"/>
          <a:lstStyle/>
          <a:p>
            <a:pPr marL="0" indent="0">
              <a:buNone/>
            </a:pPr>
            <a:r>
              <a:rPr lang="en-US" sz="1300" dirty="0">
                <a:solidFill>
                  <a:srgbClr val="5B6C7B"/>
                </a:solidFill>
                <a:latin typeface="Calibri" pitchFamily="34" charset="0"/>
                <a:ea typeface="Calibri" pitchFamily="34" charset="-122"/>
                <a:cs typeface="Calibri" pitchFamily="34" charset="-120"/>
              </a:rPr>
              <a:t>Each stage writes a file the next one reads, so any stage can be inspected, cached, or resumed on its own.</a:t>
            </a:r>
            <a:endParaRPr lang="en-US" sz="1300" dirty="0"/>
          </a:p>
        </p:txBody>
      </p:sp>
      <p:sp>
        <p:nvSpPr>
          <p:cNvPr id="4" name="Shape 2"/>
          <p:cNvSpPr/>
          <p:nvPr/>
        </p:nvSpPr>
        <p:spPr>
          <a:xfrm>
            <a:off x="502920" y="1444752"/>
            <a:ext cx="2603754" cy="1975104"/>
          </a:xfrm>
          <a:prstGeom prst="roundRect">
            <a:avLst>
              <a:gd name="adj" fmla="val 3704"/>
            </a:avLst>
          </a:prstGeom>
          <a:solidFill>
            <a:srgbClr val="EFF4F8"/>
          </a:solidFill>
          <a:ln/>
        </p:spPr>
      </p:sp>
      <p:sp>
        <p:nvSpPr>
          <p:cNvPr id="5" name="Shape 3"/>
          <p:cNvSpPr/>
          <p:nvPr/>
        </p:nvSpPr>
        <p:spPr>
          <a:xfrm>
            <a:off x="740664" y="1664208"/>
            <a:ext cx="493776" cy="493776"/>
          </a:xfrm>
          <a:prstGeom prst="ellipse">
            <a:avLst/>
          </a:prstGeom>
          <a:solidFill>
            <a:srgbClr val="065A82"/>
          </a:solidFill>
          <a:ln/>
        </p:spPr>
      </p:sp>
      <p:sp>
        <p:nvSpPr>
          <p:cNvPr id="6" name="Text 4"/>
          <p:cNvSpPr txBox="1"/>
          <p:nvPr/>
        </p:nvSpPr>
        <p:spPr>
          <a:xfrm>
            <a:off x="740664" y="1664208"/>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M1</a:t>
            </a:r>
            <a:endParaRPr lang="en-US" sz="1200" dirty="0"/>
          </a:p>
        </p:txBody>
      </p:sp>
      <p:sp>
        <p:nvSpPr>
          <p:cNvPr id="7" name="Text 5"/>
          <p:cNvSpPr txBox="1"/>
          <p:nvPr/>
        </p:nvSpPr>
        <p:spPr>
          <a:xfrm>
            <a:off x="1344168" y="1700784"/>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Ingest</a:t>
            </a:r>
            <a:endParaRPr lang="en-US" sz="1700" dirty="0"/>
          </a:p>
        </p:txBody>
      </p:sp>
      <p:sp>
        <p:nvSpPr>
          <p:cNvPr id="8" name="Text 6"/>
          <p:cNvSpPr txBox="1"/>
          <p:nvPr/>
        </p:nvSpPr>
        <p:spPr>
          <a:xfrm>
            <a:off x="740664" y="2304288"/>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Fetch the source. Audio first, so transcription can start before the pixels arrive.</a:t>
            </a:r>
            <a:endParaRPr lang="en-US" sz="1150" dirty="0"/>
          </a:p>
        </p:txBody>
      </p:sp>
      <p:sp>
        <p:nvSpPr>
          <p:cNvPr id="9" name="Text 7"/>
          <p:cNvSpPr txBox="1"/>
          <p:nvPr/>
        </p:nvSpPr>
        <p:spPr>
          <a:xfrm>
            <a:off x="740664" y="2999232"/>
            <a:ext cx="2128266" cy="274320"/>
          </a:xfrm>
          <a:prstGeom prst="rect">
            <a:avLst/>
          </a:prstGeom>
          <a:noFill/>
          <a:ln/>
        </p:spPr>
        <p:txBody>
          <a:bodyPr wrap="square" lIns="0" tIns="0" rIns="0" bIns="0" rtlCol="0" anchor="ctr"/>
          <a:lstStyle/>
          <a:p>
            <a:pPr marL="0" indent="0">
              <a:buNone/>
            </a:pPr>
            <a:endParaRPr lang="en-US" sz="1200" dirty="0"/>
          </a:p>
        </p:txBody>
      </p:sp>
      <p:sp>
        <p:nvSpPr>
          <p:cNvPr id="10" name="Shape 8"/>
          <p:cNvSpPr/>
          <p:nvPr/>
        </p:nvSpPr>
        <p:spPr>
          <a:xfrm>
            <a:off x="3362706" y="1444752"/>
            <a:ext cx="2603754" cy="1975104"/>
          </a:xfrm>
          <a:prstGeom prst="roundRect">
            <a:avLst>
              <a:gd name="adj" fmla="val 3704"/>
            </a:avLst>
          </a:prstGeom>
          <a:solidFill>
            <a:srgbClr val="EFF4F8"/>
          </a:solidFill>
          <a:ln/>
        </p:spPr>
      </p:sp>
      <p:sp>
        <p:nvSpPr>
          <p:cNvPr id="11" name="Shape 9"/>
          <p:cNvSpPr/>
          <p:nvPr/>
        </p:nvSpPr>
        <p:spPr>
          <a:xfrm>
            <a:off x="3600450" y="1664208"/>
            <a:ext cx="493776" cy="493776"/>
          </a:xfrm>
          <a:prstGeom prst="ellipse">
            <a:avLst/>
          </a:prstGeom>
          <a:solidFill>
            <a:srgbClr val="065A82"/>
          </a:solidFill>
          <a:ln/>
        </p:spPr>
      </p:sp>
      <p:sp>
        <p:nvSpPr>
          <p:cNvPr id="12" name="Text 10"/>
          <p:cNvSpPr txBox="1"/>
          <p:nvPr/>
        </p:nvSpPr>
        <p:spPr>
          <a:xfrm>
            <a:off x="3600450" y="1664208"/>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M2</a:t>
            </a:r>
            <a:endParaRPr lang="en-US" sz="1200" dirty="0"/>
          </a:p>
        </p:txBody>
      </p:sp>
      <p:sp>
        <p:nvSpPr>
          <p:cNvPr id="13" name="Text 11"/>
          <p:cNvSpPr txBox="1"/>
          <p:nvPr/>
        </p:nvSpPr>
        <p:spPr>
          <a:xfrm>
            <a:off x="4203954" y="1700784"/>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Transcribe</a:t>
            </a:r>
            <a:endParaRPr lang="en-US" sz="1700" dirty="0"/>
          </a:p>
        </p:txBody>
      </p:sp>
      <p:sp>
        <p:nvSpPr>
          <p:cNvPr id="14" name="Text 12"/>
          <p:cNvSpPr txBox="1"/>
          <p:nvPr/>
        </p:nvSpPr>
        <p:spPr>
          <a:xfrm>
            <a:off x="3600450" y="2304288"/>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Speech to timestamped text. Split at silences, many Whisper workers at once.</a:t>
            </a:r>
            <a:endParaRPr lang="en-US" sz="1150" dirty="0"/>
          </a:p>
        </p:txBody>
      </p:sp>
      <p:sp>
        <p:nvSpPr>
          <p:cNvPr id="16" name="Shape 14"/>
          <p:cNvSpPr/>
          <p:nvPr/>
        </p:nvSpPr>
        <p:spPr>
          <a:xfrm>
            <a:off x="6222492" y="1444752"/>
            <a:ext cx="2603754" cy="1975104"/>
          </a:xfrm>
          <a:prstGeom prst="roundRect">
            <a:avLst>
              <a:gd name="adj" fmla="val 3704"/>
            </a:avLst>
          </a:prstGeom>
          <a:solidFill>
            <a:srgbClr val="EFF4F8"/>
          </a:solidFill>
          <a:ln/>
        </p:spPr>
      </p:sp>
      <p:sp>
        <p:nvSpPr>
          <p:cNvPr id="17" name="Shape 15"/>
          <p:cNvSpPr/>
          <p:nvPr/>
        </p:nvSpPr>
        <p:spPr>
          <a:xfrm>
            <a:off x="6460236" y="1664208"/>
            <a:ext cx="493776" cy="493776"/>
          </a:xfrm>
          <a:prstGeom prst="ellipse">
            <a:avLst/>
          </a:prstGeom>
          <a:solidFill>
            <a:srgbClr val="065A82"/>
          </a:solidFill>
          <a:ln/>
        </p:spPr>
      </p:sp>
      <p:sp>
        <p:nvSpPr>
          <p:cNvPr id="18" name="Text 16"/>
          <p:cNvSpPr txBox="1"/>
          <p:nvPr/>
        </p:nvSpPr>
        <p:spPr>
          <a:xfrm>
            <a:off x="6460236" y="1664208"/>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M3</a:t>
            </a:r>
            <a:endParaRPr lang="en-US" sz="1200" dirty="0"/>
          </a:p>
        </p:txBody>
      </p:sp>
      <p:sp>
        <p:nvSpPr>
          <p:cNvPr id="19" name="Text 17"/>
          <p:cNvSpPr txBox="1"/>
          <p:nvPr/>
        </p:nvSpPr>
        <p:spPr>
          <a:xfrm>
            <a:off x="7063740" y="1700784"/>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Vision</a:t>
            </a:r>
            <a:endParaRPr lang="en-US" sz="1700" dirty="0"/>
          </a:p>
        </p:txBody>
      </p:sp>
      <p:sp>
        <p:nvSpPr>
          <p:cNvPr id="20" name="Text 18"/>
          <p:cNvSpPr txBox="1"/>
          <p:nvPr/>
        </p:nvSpPr>
        <p:spPr>
          <a:xfrm>
            <a:off x="6460236" y="2304288"/>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Cut into scenes, pick keyframes, detect objects, read on-screen text.</a:t>
            </a:r>
            <a:endParaRPr lang="en-US" sz="1150" dirty="0"/>
          </a:p>
        </p:txBody>
      </p:sp>
      <p:sp>
        <p:nvSpPr>
          <p:cNvPr id="22" name="Shape 20"/>
          <p:cNvSpPr/>
          <p:nvPr/>
        </p:nvSpPr>
        <p:spPr>
          <a:xfrm>
            <a:off x="9082278" y="1444752"/>
            <a:ext cx="2603754" cy="1975104"/>
          </a:xfrm>
          <a:prstGeom prst="roundRect">
            <a:avLst>
              <a:gd name="adj" fmla="val 3704"/>
            </a:avLst>
          </a:prstGeom>
          <a:solidFill>
            <a:srgbClr val="EFF4F8"/>
          </a:solidFill>
          <a:ln/>
        </p:spPr>
      </p:sp>
      <p:sp>
        <p:nvSpPr>
          <p:cNvPr id="23" name="Shape 21"/>
          <p:cNvSpPr/>
          <p:nvPr/>
        </p:nvSpPr>
        <p:spPr>
          <a:xfrm>
            <a:off x="9320022" y="1664208"/>
            <a:ext cx="493776" cy="493776"/>
          </a:xfrm>
          <a:prstGeom prst="ellipse">
            <a:avLst/>
          </a:prstGeom>
          <a:solidFill>
            <a:srgbClr val="065A82"/>
          </a:solidFill>
          <a:ln/>
        </p:spPr>
      </p:sp>
      <p:sp>
        <p:nvSpPr>
          <p:cNvPr id="24" name="Text 22"/>
          <p:cNvSpPr txBox="1"/>
          <p:nvPr/>
        </p:nvSpPr>
        <p:spPr>
          <a:xfrm>
            <a:off x="9320022" y="1664208"/>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M4</a:t>
            </a:r>
            <a:endParaRPr lang="en-US" sz="1200" dirty="0"/>
          </a:p>
        </p:txBody>
      </p:sp>
      <p:sp>
        <p:nvSpPr>
          <p:cNvPr id="25" name="Text 23"/>
          <p:cNvSpPr txBox="1"/>
          <p:nvPr/>
        </p:nvSpPr>
        <p:spPr>
          <a:xfrm>
            <a:off x="9923526" y="1700784"/>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Fuse</a:t>
            </a:r>
            <a:endParaRPr lang="en-US" sz="1700" dirty="0"/>
          </a:p>
        </p:txBody>
      </p:sp>
      <p:sp>
        <p:nvSpPr>
          <p:cNvPr id="26" name="Text 24"/>
          <p:cNvSpPr txBox="1"/>
          <p:nvPr/>
        </p:nvSpPr>
        <p:spPr>
          <a:xfrm>
            <a:off x="9320022" y="2304288"/>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Align words to scenes, so every moment knows what was said and what was shown.</a:t>
            </a:r>
            <a:endParaRPr lang="en-US" sz="1150" dirty="0"/>
          </a:p>
        </p:txBody>
      </p:sp>
      <p:sp>
        <p:nvSpPr>
          <p:cNvPr id="28" name="Shape 26"/>
          <p:cNvSpPr/>
          <p:nvPr/>
        </p:nvSpPr>
        <p:spPr>
          <a:xfrm>
            <a:off x="1932813" y="3657600"/>
            <a:ext cx="2603754" cy="1975104"/>
          </a:xfrm>
          <a:prstGeom prst="roundRect">
            <a:avLst>
              <a:gd name="adj" fmla="val 3704"/>
            </a:avLst>
          </a:prstGeom>
          <a:solidFill>
            <a:srgbClr val="E3ECF3"/>
          </a:solidFill>
          <a:ln/>
        </p:spPr>
      </p:sp>
      <p:sp>
        <p:nvSpPr>
          <p:cNvPr id="29" name="Shape 27"/>
          <p:cNvSpPr/>
          <p:nvPr/>
        </p:nvSpPr>
        <p:spPr>
          <a:xfrm>
            <a:off x="2170557" y="3877056"/>
            <a:ext cx="493776" cy="493776"/>
          </a:xfrm>
          <a:prstGeom prst="ellipse">
            <a:avLst/>
          </a:prstGeom>
          <a:solidFill>
            <a:srgbClr val="D98C20"/>
          </a:solidFill>
          <a:ln/>
        </p:spPr>
      </p:sp>
      <p:sp>
        <p:nvSpPr>
          <p:cNvPr id="30" name="Text 28"/>
          <p:cNvSpPr txBox="1"/>
          <p:nvPr/>
        </p:nvSpPr>
        <p:spPr>
          <a:xfrm>
            <a:off x="2170557" y="3877056"/>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M5</a:t>
            </a:r>
            <a:endParaRPr lang="en-US" sz="1200" dirty="0"/>
          </a:p>
        </p:txBody>
      </p:sp>
      <p:sp>
        <p:nvSpPr>
          <p:cNvPr id="31" name="Text 29"/>
          <p:cNvSpPr txBox="1"/>
          <p:nvPr/>
        </p:nvSpPr>
        <p:spPr>
          <a:xfrm>
            <a:off x="2774061" y="3913632"/>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Understand</a:t>
            </a:r>
            <a:endParaRPr lang="en-US" sz="1700" dirty="0"/>
          </a:p>
        </p:txBody>
      </p:sp>
      <p:sp>
        <p:nvSpPr>
          <p:cNvPr id="32" name="Text 30"/>
          <p:cNvSpPr txBox="1"/>
          <p:nvPr/>
        </p:nvSpPr>
        <p:spPr>
          <a:xfrm>
            <a:off x="2170557" y="4517136"/>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One LLM call over the whole transcript plus keyframes, into a taught explanation.</a:t>
            </a:r>
            <a:endParaRPr lang="en-US" sz="1150" dirty="0"/>
          </a:p>
        </p:txBody>
      </p:sp>
      <p:sp>
        <p:nvSpPr>
          <p:cNvPr id="34" name="Shape 32"/>
          <p:cNvSpPr/>
          <p:nvPr/>
        </p:nvSpPr>
        <p:spPr>
          <a:xfrm>
            <a:off x="4792599" y="3657600"/>
            <a:ext cx="2603754" cy="1975104"/>
          </a:xfrm>
          <a:prstGeom prst="roundRect">
            <a:avLst>
              <a:gd name="adj" fmla="val 3704"/>
            </a:avLst>
          </a:prstGeom>
          <a:solidFill>
            <a:srgbClr val="E3ECF3"/>
          </a:solidFill>
          <a:ln/>
        </p:spPr>
      </p:sp>
      <p:sp>
        <p:nvSpPr>
          <p:cNvPr id="35" name="Shape 33"/>
          <p:cNvSpPr/>
          <p:nvPr/>
        </p:nvSpPr>
        <p:spPr>
          <a:xfrm>
            <a:off x="5030343" y="3877056"/>
            <a:ext cx="493776" cy="493776"/>
          </a:xfrm>
          <a:prstGeom prst="ellipse">
            <a:avLst/>
          </a:prstGeom>
          <a:solidFill>
            <a:srgbClr val="065A82"/>
          </a:solidFill>
          <a:ln/>
        </p:spPr>
      </p:sp>
      <p:sp>
        <p:nvSpPr>
          <p:cNvPr id="36" name="Text 34"/>
          <p:cNvSpPr txBox="1"/>
          <p:nvPr/>
        </p:nvSpPr>
        <p:spPr>
          <a:xfrm>
            <a:off x="5030343" y="3877056"/>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M6</a:t>
            </a:r>
            <a:endParaRPr lang="en-US" sz="1200" dirty="0"/>
          </a:p>
        </p:txBody>
      </p:sp>
      <p:sp>
        <p:nvSpPr>
          <p:cNvPr id="37" name="Text 35"/>
          <p:cNvSpPr txBox="1"/>
          <p:nvPr/>
        </p:nvSpPr>
        <p:spPr>
          <a:xfrm>
            <a:off x="5633847" y="3913632"/>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Index</a:t>
            </a:r>
            <a:endParaRPr lang="en-US" sz="1700" dirty="0"/>
          </a:p>
        </p:txBody>
      </p:sp>
      <p:sp>
        <p:nvSpPr>
          <p:cNvPr id="38" name="Text 36"/>
          <p:cNvSpPr txBox="1"/>
          <p:nvPr/>
        </p:nvSpPr>
        <p:spPr>
          <a:xfrm>
            <a:off x="5030343" y="4517136"/>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Chunk, embed and index the transcript so the video becomes answerable.</a:t>
            </a:r>
            <a:endParaRPr lang="en-US" sz="1150" dirty="0"/>
          </a:p>
        </p:txBody>
      </p:sp>
      <p:sp>
        <p:nvSpPr>
          <p:cNvPr id="40" name="Shape 38"/>
          <p:cNvSpPr/>
          <p:nvPr/>
        </p:nvSpPr>
        <p:spPr>
          <a:xfrm>
            <a:off x="7652385" y="3657600"/>
            <a:ext cx="2603754" cy="1975104"/>
          </a:xfrm>
          <a:prstGeom prst="roundRect">
            <a:avLst>
              <a:gd name="adj" fmla="val 3704"/>
            </a:avLst>
          </a:prstGeom>
          <a:solidFill>
            <a:srgbClr val="E3ECF3"/>
          </a:solidFill>
          <a:ln/>
        </p:spPr>
      </p:sp>
      <p:sp>
        <p:nvSpPr>
          <p:cNvPr id="41" name="Shape 39"/>
          <p:cNvSpPr/>
          <p:nvPr/>
        </p:nvSpPr>
        <p:spPr>
          <a:xfrm>
            <a:off x="7890129" y="3877056"/>
            <a:ext cx="493776" cy="493776"/>
          </a:xfrm>
          <a:prstGeom prst="ellipse">
            <a:avLst/>
          </a:prstGeom>
          <a:solidFill>
            <a:srgbClr val="065A82"/>
          </a:solidFill>
          <a:ln/>
        </p:spPr>
      </p:sp>
      <p:sp>
        <p:nvSpPr>
          <p:cNvPr id="42" name="Text 40"/>
          <p:cNvSpPr txBox="1"/>
          <p:nvPr/>
        </p:nvSpPr>
        <p:spPr>
          <a:xfrm>
            <a:off x="7890129" y="3877056"/>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M7</a:t>
            </a:r>
            <a:endParaRPr lang="en-US" sz="1200" dirty="0"/>
          </a:p>
        </p:txBody>
      </p:sp>
      <p:sp>
        <p:nvSpPr>
          <p:cNvPr id="43" name="Text 41"/>
          <p:cNvSpPr txBox="1"/>
          <p:nvPr/>
        </p:nvSpPr>
        <p:spPr>
          <a:xfrm>
            <a:off x="8493633" y="3913632"/>
            <a:ext cx="1597914" cy="420624"/>
          </a:xfrm>
          <a:prstGeom prst="rect">
            <a:avLst/>
          </a:prstGeom>
          <a:noFill/>
          <a:ln/>
        </p:spPr>
        <p:txBody>
          <a:bodyPr wrap="square" lIns="0" tIns="0" rIns="0" bIns="0" rtlCol="0" anchor="ctr"/>
          <a:lstStyle/>
          <a:p>
            <a:pPr marL="0" indent="0">
              <a:buNone/>
            </a:pPr>
            <a:r>
              <a:rPr lang="en-US" sz="1700" b="1" dirty="0">
                <a:solidFill>
                  <a:srgbClr val="13202E"/>
                </a:solidFill>
                <a:latin typeface="Cambria" pitchFamily="34" charset="0"/>
                <a:ea typeface="Cambria" pitchFamily="34" charset="-122"/>
                <a:cs typeface="Cambria" pitchFamily="34" charset="-120"/>
              </a:rPr>
              <a:t>Highlight</a:t>
            </a:r>
            <a:endParaRPr lang="en-US" sz="1700" dirty="0"/>
          </a:p>
        </p:txBody>
      </p:sp>
      <p:sp>
        <p:nvSpPr>
          <p:cNvPr id="44" name="Text 42"/>
          <p:cNvSpPr txBox="1"/>
          <p:nvPr/>
        </p:nvSpPr>
        <p:spPr>
          <a:xfrm>
            <a:off x="7890129" y="4517136"/>
            <a:ext cx="2128266" cy="749808"/>
          </a:xfrm>
          <a:prstGeom prst="rect">
            <a:avLst/>
          </a:prstGeom>
          <a:noFill/>
          <a:ln/>
        </p:spPr>
        <p:txBody>
          <a:bodyPr wrap="square" lIns="0" tIns="0" rIns="0" bIns="0" rtlCol="0" anchor="ctr"/>
          <a:lstStyle/>
          <a:p>
            <a:pPr marL="0" indent="0">
              <a:lnSpc>
                <a:spcPts val="1500"/>
              </a:lnSpc>
              <a:buNone/>
            </a:pPr>
            <a:r>
              <a:rPr lang="en-US" sz="1150" dirty="0">
                <a:solidFill>
                  <a:srgbClr val="13202E"/>
                </a:solidFill>
                <a:latin typeface="Calibri" pitchFamily="34" charset="0"/>
                <a:ea typeface="Calibri" pitchFamily="34" charset="-122"/>
                <a:cs typeface="Calibri" pitchFamily="34" charset="-120"/>
              </a:rPr>
              <a:t>A model we trained scores every scene; the best become a 90-second reel.</a:t>
            </a:r>
            <a:endParaRPr lang="en-US" sz="1150" dirty="0"/>
          </a:p>
        </p:txBody>
      </p:sp>
      <p:sp>
        <p:nvSpPr>
          <p:cNvPr id="45" name="Text 43"/>
          <p:cNvSpPr txBox="1"/>
          <p:nvPr/>
        </p:nvSpPr>
        <p:spPr>
          <a:xfrm>
            <a:off x="7890129" y="5212080"/>
            <a:ext cx="2128266" cy="274320"/>
          </a:xfrm>
          <a:prstGeom prst="rect">
            <a:avLst/>
          </a:prstGeom>
          <a:noFill/>
          <a:ln/>
        </p:spPr>
        <p:txBody>
          <a:bodyPr wrap="square" lIns="0" tIns="0" rIns="0" bIns="0" rtlCol="0" anchor="ctr"/>
          <a:lstStyle/>
          <a:p>
            <a:pPr marL="0" indent="0">
              <a:buNone/>
            </a:pPr>
            <a:r>
              <a:rPr lang="en-US" sz="1200" b="1" dirty="0">
                <a:solidFill>
                  <a:srgbClr val="D98C20"/>
                </a:solidFill>
                <a:latin typeface="Calibri" pitchFamily="34" charset="0"/>
                <a:ea typeface="Calibri" pitchFamily="34" charset="-122"/>
                <a:cs typeface="Calibri" pitchFamily="34" charset="-120"/>
              </a:rPr>
              <a:t>optional</a:t>
            </a:r>
            <a:endParaRPr lang="en-US" sz="1200" dirty="0"/>
          </a:p>
        </p:txBody>
      </p:sp>
      <p:sp>
        <p:nvSpPr>
          <p:cNvPr id="46" name="Text 44"/>
          <p:cNvSpPr txBox="1"/>
          <p:nvPr/>
        </p:nvSpPr>
        <p:spPr>
          <a:xfrm>
            <a:off x="502920" y="6108192"/>
            <a:ext cx="11183112" cy="310896"/>
          </a:xfrm>
          <a:prstGeom prst="rect">
            <a:avLst/>
          </a:prstGeom>
          <a:noFill/>
          <a:ln/>
        </p:spPr>
        <p:txBody>
          <a:bodyPr wrap="square" lIns="0" tIns="0" rIns="0" bIns="0" rtlCol="0" anchor="ctr"/>
          <a:lstStyle/>
          <a:p>
            <a:pPr marL="0" indent="0">
              <a:buNone/>
            </a:pPr>
            <a:r>
              <a:rPr lang="en-US" sz="1050" i="1" dirty="0">
                <a:solidFill>
                  <a:srgbClr val="5B6C7B"/>
                </a:solidFill>
                <a:latin typeface="Calibri" pitchFamily="34" charset="0"/>
                <a:ea typeface="Calibri" pitchFamily="34" charset="-122"/>
                <a:cs typeface="Calibri" pitchFamily="34" charset="-120"/>
              </a:rPr>
              <a:t>*  M2 and M3 run at the same time and finish as one unit — see slide 9.   Times are from a 43.5-minute English lecture: 6.3 minutes end to end, CPU only.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3112" cy="502920"/>
          </a:xfrm>
          <a:prstGeom prst="rect">
            <a:avLst/>
          </a:prstGeom>
          <a:noFill/>
          <a:ln/>
        </p:spPr>
        <p:txBody>
          <a:bodyPr wrap="square" lIns="0" tIns="0" rIns="0" bIns="0" rtlCol="0" anchor="ctr"/>
          <a:lstStyle/>
          <a:p>
            <a:pPr marL="0" indent="0">
              <a:buNone/>
            </a:pPr>
            <a:r>
              <a:rPr lang="en-US" sz="3200" b="1" dirty="0">
                <a:solidFill>
                  <a:srgbClr val="13202E"/>
                </a:solidFill>
                <a:latin typeface="Cambria" pitchFamily="34" charset="0"/>
                <a:ea typeface="Cambria" pitchFamily="34" charset="-122"/>
                <a:cs typeface="Cambria" pitchFamily="34" charset="-120"/>
              </a:rPr>
              <a:t>What happens when you press Summarize</a:t>
            </a:r>
            <a:endParaRPr lang="en-US" sz="3200" dirty="0"/>
          </a:p>
        </p:txBody>
      </p:sp>
      <p:sp>
        <p:nvSpPr>
          <p:cNvPr id="3" name="Text 1"/>
          <p:cNvSpPr txBox="1"/>
          <p:nvPr/>
        </p:nvSpPr>
        <p:spPr>
          <a:xfrm>
            <a:off x="502920" y="941832"/>
            <a:ext cx="11183112" cy="292608"/>
          </a:xfrm>
          <a:prstGeom prst="rect">
            <a:avLst/>
          </a:prstGeom>
          <a:noFill/>
          <a:ln/>
        </p:spPr>
        <p:txBody>
          <a:bodyPr wrap="square" lIns="0" tIns="0" rIns="0" bIns="0" rtlCol="0" anchor="ctr"/>
          <a:lstStyle/>
          <a:p>
            <a:pPr marL="0" indent="0">
              <a:buNone/>
            </a:pPr>
            <a:r>
              <a:rPr lang="en-US" sz="1300" dirty="0">
                <a:solidFill>
                  <a:srgbClr val="5B6C7B"/>
                </a:solidFill>
                <a:latin typeface="Calibri" pitchFamily="34" charset="0"/>
                <a:ea typeface="Calibri" pitchFamily="34" charset="-122"/>
                <a:cs typeface="Calibri" pitchFamily="34" charset="-120"/>
              </a:rPr>
              <a:t>The path a single request takes through the web tier, before any model runs.</a:t>
            </a:r>
            <a:endParaRPr lang="en-US" sz="1300" dirty="0"/>
          </a:p>
        </p:txBody>
      </p:sp>
      <p:sp>
        <p:nvSpPr>
          <p:cNvPr id="4" name="Shape 2"/>
          <p:cNvSpPr/>
          <p:nvPr/>
        </p:nvSpPr>
        <p:spPr>
          <a:xfrm>
            <a:off x="690372" y="1481328"/>
            <a:ext cx="1572768" cy="932688"/>
          </a:xfrm>
          <a:prstGeom prst="roundRect">
            <a:avLst>
              <a:gd name="adj" fmla="val 9804"/>
            </a:avLst>
          </a:prstGeom>
          <a:solidFill>
            <a:srgbClr val="E3ECF3"/>
          </a:solidFill>
          <a:ln/>
        </p:spPr>
      </p:sp>
      <p:sp>
        <p:nvSpPr>
          <p:cNvPr id="5" name="Text 3"/>
          <p:cNvSpPr txBox="1"/>
          <p:nvPr/>
        </p:nvSpPr>
        <p:spPr>
          <a:xfrm>
            <a:off x="690372" y="1591056"/>
            <a:ext cx="1572768" cy="310896"/>
          </a:xfrm>
          <a:prstGeom prst="rect">
            <a:avLst/>
          </a:prstGeom>
          <a:noFill/>
          <a:ln/>
        </p:spPr>
        <p:txBody>
          <a:bodyPr wrap="square" lIns="0" tIns="0" rIns="0" bIns="0" rtlCol="0" anchor="ctr"/>
          <a:lstStyle/>
          <a:p>
            <a:pPr marL="0" indent="0" algn="ctr">
              <a:buNone/>
            </a:pPr>
            <a:r>
              <a:rPr lang="en-US" sz="1400" b="1" dirty="0">
                <a:solidFill>
                  <a:srgbClr val="13202E"/>
                </a:solidFill>
                <a:latin typeface="Cambria" pitchFamily="34" charset="0"/>
                <a:ea typeface="Cambria" pitchFamily="34" charset="-122"/>
                <a:cs typeface="Cambria" pitchFamily="34" charset="-120"/>
              </a:rPr>
              <a:t>Browser</a:t>
            </a:r>
            <a:endParaRPr lang="en-US" sz="1400" dirty="0"/>
          </a:p>
        </p:txBody>
      </p:sp>
      <p:sp>
        <p:nvSpPr>
          <p:cNvPr id="6" name="Text 4"/>
          <p:cNvSpPr txBox="1"/>
          <p:nvPr/>
        </p:nvSpPr>
        <p:spPr>
          <a:xfrm>
            <a:off x="690372" y="1901952"/>
            <a:ext cx="1572768" cy="274320"/>
          </a:xfrm>
          <a:prstGeom prst="rect">
            <a:avLst/>
          </a:prstGeom>
          <a:noFill/>
          <a:ln/>
        </p:spPr>
        <p:txBody>
          <a:bodyPr wrap="square" lIns="0" tIns="0" rIns="0" bIns="0" rtlCol="0" anchor="ctr"/>
          <a:lstStyle/>
          <a:p>
            <a:pPr marL="0" indent="0" algn="ctr">
              <a:buNone/>
            </a:pPr>
            <a:r>
              <a:rPr lang="en-US" sz="1050" dirty="0">
                <a:solidFill>
                  <a:srgbClr val="5B6C7B"/>
                </a:solidFill>
                <a:latin typeface="Calibri" pitchFamily="34" charset="0"/>
                <a:ea typeface="Calibri" pitchFamily="34" charset="-122"/>
                <a:cs typeface="Calibri" pitchFamily="34" charset="-120"/>
              </a:rPr>
              <a:t>Next.js 15</a:t>
            </a:r>
            <a:endParaRPr lang="en-US" sz="1050" dirty="0"/>
          </a:p>
        </p:txBody>
      </p:sp>
      <p:sp>
        <p:nvSpPr>
          <p:cNvPr id="7" name="Shape 5"/>
          <p:cNvSpPr/>
          <p:nvPr/>
        </p:nvSpPr>
        <p:spPr>
          <a:xfrm>
            <a:off x="2299716" y="1828800"/>
            <a:ext cx="201168" cy="237744"/>
          </a:xfrm>
          <a:prstGeom prst="rightArrow">
            <a:avLst/>
          </a:prstGeom>
          <a:solidFill>
            <a:srgbClr val="1C7293"/>
          </a:solidFill>
          <a:ln/>
        </p:spPr>
      </p:sp>
      <p:sp>
        <p:nvSpPr>
          <p:cNvPr id="8" name="Shape 6"/>
          <p:cNvSpPr/>
          <p:nvPr/>
        </p:nvSpPr>
        <p:spPr>
          <a:xfrm>
            <a:off x="2537460" y="1481328"/>
            <a:ext cx="1572768" cy="932688"/>
          </a:xfrm>
          <a:prstGeom prst="roundRect">
            <a:avLst>
              <a:gd name="adj" fmla="val 9804"/>
            </a:avLst>
          </a:prstGeom>
          <a:solidFill>
            <a:srgbClr val="E3ECF3"/>
          </a:solidFill>
          <a:ln/>
        </p:spPr>
      </p:sp>
      <p:sp>
        <p:nvSpPr>
          <p:cNvPr id="9" name="Text 7"/>
          <p:cNvSpPr txBox="1"/>
          <p:nvPr/>
        </p:nvSpPr>
        <p:spPr>
          <a:xfrm>
            <a:off x="2537460" y="1591056"/>
            <a:ext cx="1572768" cy="310896"/>
          </a:xfrm>
          <a:prstGeom prst="rect">
            <a:avLst/>
          </a:prstGeom>
          <a:noFill/>
          <a:ln/>
        </p:spPr>
        <p:txBody>
          <a:bodyPr wrap="square" lIns="0" tIns="0" rIns="0" bIns="0" rtlCol="0" anchor="ctr"/>
          <a:lstStyle/>
          <a:p>
            <a:pPr marL="0" indent="0" algn="ctr">
              <a:buNone/>
            </a:pPr>
            <a:r>
              <a:rPr lang="en-US" sz="1400" b="1" dirty="0">
                <a:solidFill>
                  <a:srgbClr val="13202E"/>
                </a:solidFill>
                <a:latin typeface="Cambria" pitchFamily="34" charset="0"/>
                <a:ea typeface="Cambria" pitchFamily="34" charset="-122"/>
                <a:cs typeface="Cambria" pitchFamily="34" charset="-120"/>
              </a:rPr>
              <a:t>API</a:t>
            </a:r>
            <a:endParaRPr lang="en-US" sz="1400" dirty="0"/>
          </a:p>
        </p:txBody>
      </p:sp>
      <p:sp>
        <p:nvSpPr>
          <p:cNvPr id="10" name="Text 8"/>
          <p:cNvSpPr txBox="1"/>
          <p:nvPr/>
        </p:nvSpPr>
        <p:spPr>
          <a:xfrm>
            <a:off x="2537460" y="1901952"/>
            <a:ext cx="1572768" cy="274320"/>
          </a:xfrm>
          <a:prstGeom prst="rect">
            <a:avLst/>
          </a:prstGeom>
          <a:noFill/>
          <a:ln/>
        </p:spPr>
        <p:txBody>
          <a:bodyPr wrap="square" lIns="0" tIns="0" rIns="0" bIns="0" rtlCol="0" anchor="ctr"/>
          <a:lstStyle/>
          <a:p>
            <a:pPr marL="0" indent="0" algn="ctr">
              <a:buNone/>
            </a:pPr>
            <a:r>
              <a:rPr lang="en-US" sz="1050" dirty="0">
                <a:solidFill>
                  <a:srgbClr val="5B6C7B"/>
                </a:solidFill>
                <a:latin typeface="Calibri" pitchFamily="34" charset="0"/>
                <a:ea typeface="Calibri" pitchFamily="34" charset="-122"/>
                <a:cs typeface="Calibri" pitchFamily="34" charset="-120"/>
              </a:rPr>
              <a:t>FastAPI</a:t>
            </a:r>
            <a:endParaRPr lang="en-US" sz="1050" dirty="0"/>
          </a:p>
        </p:txBody>
      </p:sp>
      <p:sp>
        <p:nvSpPr>
          <p:cNvPr id="11" name="Shape 9"/>
          <p:cNvSpPr/>
          <p:nvPr/>
        </p:nvSpPr>
        <p:spPr>
          <a:xfrm>
            <a:off x="4146804" y="1828800"/>
            <a:ext cx="201168" cy="237744"/>
          </a:xfrm>
          <a:prstGeom prst="rightArrow">
            <a:avLst/>
          </a:prstGeom>
          <a:solidFill>
            <a:srgbClr val="1C7293"/>
          </a:solidFill>
          <a:ln/>
        </p:spPr>
      </p:sp>
      <p:sp>
        <p:nvSpPr>
          <p:cNvPr id="12" name="Shape 10"/>
          <p:cNvSpPr/>
          <p:nvPr/>
        </p:nvSpPr>
        <p:spPr>
          <a:xfrm>
            <a:off x="4384548" y="1481328"/>
            <a:ext cx="1572768" cy="932688"/>
          </a:xfrm>
          <a:prstGeom prst="roundRect">
            <a:avLst>
              <a:gd name="adj" fmla="val 9804"/>
            </a:avLst>
          </a:prstGeom>
          <a:solidFill>
            <a:srgbClr val="E3ECF3"/>
          </a:solidFill>
          <a:ln/>
        </p:spPr>
      </p:sp>
      <p:sp>
        <p:nvSpPr>
          <p:cNvPr id="13" name="Text 11"/>
          <p:cNvSpPr txBox="1"/>
          <p:nvPr/>
        </p:nvSpPr>
        <p:spPr>
          <a:xfrm>
            <a:off x="4384548" y="1591056"/>
            <a:ext cx="1572768" cy="310896"/>
          </a:xfrm>
          <a:prstGeom prst="rect">
            <a:avLst/>
          </a:prstGeom>
          <a:noFill/>
          <a:ln/>
        </p:spPr>
        <p:txBody>
          <a:bodyPr wrap="square" lIns="0" tIns="0" rIns="0" bIns="0" rtlCol="0" anchor="ctr"/>
          <a:lstStyle/>
          <a:p>
            <a:pPr marL="0" indent="0" algn="ctr">
              <a:buNone/>
            </a:pPr>
            <a:r>
              <a:rPr lang="en-US" sz="1400" b="1" dirty="0">
                <a:solidFill>
                  <a:srgbClr val="13202E"/>
                </a:solidFill>
                <a:latin typeface="Cambria" pitchFamily="34" charset="0"/>
                <a:ea typeface="Cambria" pitchFamily="34" charset="-122"/>
                <a:cs typeface="Cambria" pitchFamily="34" charset="-120"/>
              </a:rPr>
              <a:t>Job row</a:t>
            </a:r>
            <a:endParaRPr lang="en-US" sz="1400" dirty="0"/>
          </a:p>
        </p:txBody>
      </p:sp>
      <p:sp>
        <p:nvSpPr>
          <p:cNvPr id="14" name="Text 12"/>
          <p:cNvSpPr txBox="1"/>
          <p:nvPr/>
        </p:nvSpPr>
        <p:spPr>
          <a:xfrm>
            <a:off x="4384548" y="1901952"/>
            <a:ext cx="1572768" cy="274320"/>
          </a:xfrm>
          <a:prstGeom prst="rect">
            <a:avLst/>
          </a:prstGeom>
          <a:noFill/>
          <a:ln/>
        </p:spPr>
        <p:txBody>
          <a:bodyPr wrap="square" lIns="0" tIns="0" rIns="0" bIns="0" rtlCol="0" anchor="ctr"/>
          <a:lstStyle/>
          <a:p>
            <a:pPr marL="0" indent="0" algn="ctr">
              <a:buNone/>
            </a:pPr>
            <a:r>
              <a:rPr lang="en-US" sz="1050" dirty="0">
                <a:solidFill>
                  <a:srgbClr val="5B6C7B"/>
                </a:solidFill>
                <a:latin typeface="Calibri" pitchFamily="34" charset="0"/>
                <a:ea typeface="Calibri" pitchFamily="34" charset="-122"/>
                <a:cs typeface="Calibri" pitchFamily="34" charset="-120"/>
              </a:rPr>
              <a:t>SQLAlchemy</a:t>
            </a:r>
            <a:endParaRPr lang="en-US" sz="1050" dirty="0"/>
          </a:p>
        </p:txBody>
      </p:sp>
      <p:sp>
        <p:nvSpPr>
          <p:cNvPr id="15" name="Shape 13"/>
          <p:cNvSpPr/>
          <p:nvPr/>
        </p:nvSpPr>
        <p:spPr>
          <a:xfrm>
            <a:off x="5993892" y="1828800"/>
            <a:ext cx="201168" cy="237744"/>
          </a:xfrm>
          <a:prstGeom prst="rightArrow">
            <a:avLst/>
          </a:prstGeom>
          <a:solidFill>
            <a:srgbClr val="1C7293"/>
          </a:solidFill>
          <a:ln/>
        </p:spPr>
      </p:sp>
      <p:sp>
        <p:nvSpPr>
          <p:cNvPr id="16" name="Shape 14"/>
          <p:cNvSpPr/>
          <p:nvPr/>
        </p:nvSpPr>
        <p:spPr>
          <a:xfrm>
            <a:off x="6231636" y="1481328"/>
            <a:ext cx="1572768" cy="932688"/>
          </a:xfrm>
          <a:prstGeom prst="roundRect">
            <a:avLst>
              <a:gd name="adj" fmla="val 9804"/>
            </a:avLst>
          </a:prstGeom>
          <a:solidFill>
            <a:srgbClr val="E3ECF3"/>
          </a:solidFill>
          <a:ln/>
        </p:spPr>
      </p:sp>
      <p:sp>
        <p:nvSpPr>
          <p:cNvPr id="17" name="Text 15"/>
          <p:cNvSpPr txBox="1"/>
          <p:nvPr/>
        </p:nvSpPr>
        <p:spPr>
          <a:xfrm>
            <a:off x="6231636" y="1591056"/>
            <a:ext cx="1572768" cy="310896"/>
          </a:xfrm>
          <a:prstGeom prst="rect">
            <a:avLst/>
          </a:prstGeom>
          <a:noFill/>
          <a:ln/>
        </p:spPr>
        <p:txBody>
          <a:bodyPr wrap="square" lIns="0" tIns="0" rIns="0" bIns="0" rtlCol="0" anchor="ctr"/>
          <a:lstStyle/>
          <a:p>
            <a:pPr marL="0" indent="0" algn="ctr">
              <a:buNone/>
            </a:pPr>
            <a:r>
              <a:rPr lang="en-US" sz="1400" b="1" dirty="0">
                <a:solidFill>
                  <a:srgbClr val="13202E"/>
                </a:solidFill>
                <a:latin typeface="Cambria" pitchFamily="34" charset="0"/>
                <a:ea typeface="Cambria" pitchFamily="34" charset="-122"/>
                <a:cs typeface="Cambria" pitchFamily="34" charset="-120"/>
              </a:rPr>
              <a:t>Scheduler</a:t>
            </a:r>
            <a:endParaRPr lang="en-US" sz="1400" dirty="0"/>
          </a:p>
        </p:txBody>
      </p:sp>
      <p:sp>
        <p:nvSpPr>
          <p:cNvPr id="18" name="Text 16"/>
          <p:cNvSpPr txBox="1"/>
          <p:nvPr/>
        </p:nvSpPr>
        <p:spPr>
          <a:xfrm>
            <a:off x="6231636" y="1901952"/>
            <a:ext cx="1572768" cy="274320"/>
          </a:xfrm>
          <a:prstGeom prst="rect">
            <a:avLst/>
          </a:prstGeom>
          <a:noFill/>
          <a:ln/>
        </p:spPr>
        <p:txBody>
          <a:bodyPr wrap="square" lIns="0" tIns="0" rIns="0" bIns="0" rtlCol="0" anchor="ctr"/>
          <a:lstStyle/>
          <a:p>
            <a:pPr marL="0" indent="0" algn="ctr">
              <a:buNone/>
            </a:pPr>
            <a:r>
              <a:rPr lang="en-US" sz="1050" dirty="0">
                <a:solidFill>
                  <a:srgbClr val="5B6C7B"/>
                </a:solidFill>
                <a:latin typeface="Calibri" pitchFamily="34" charset="0"/>
                <a:ea typeface="Calibri" pitchFamily="34" charset="-122"/>
                <a:cs typeface="Calibri" pitchFamily="34" charset="-120"/>
              </a:rPr>
              <a:t>picks a worker</a:t>
            </a:r>
            <a:endParaRPr lang="en-US" sz="1050" dirty="0"/>
          </a:p>
        </p:txBody>
      </p:sp>
      <p:sp>
        <p:nvSpPr>
          <p:cNvPr id="19" name="Shape 17"/>
          <p:cNvSpPr/>
          <p:nvPr/>
        </p:nvSpPr>
        <p:spPr>
          <a:xfrm>
            <a:off x="7840980" y="1828800"/>
            <a:ext cx="201168" cy="237744"/>
          </a:xfrm>
          <a:prstGeom prst="rightArrow">
            <a:avLst/>
          </a:prstGeom>
          <a:solidFill>
            <a:srgbClr val="1C7293"/>
          </a:solidFill>
          <a:ln/>
        </p:spPr>
      </p:sp>
      <p:sp>
        <p:nvSpPr>
          <p:cNvPr id="20" name="Shape 18"/>
          <p:cNvSpPr/>
          <p:nvPr/>
        </p:nvSpPr>
        <p:spPr>
          <a:xfrm>
            <a:off x="8078724" y="1481328"/>
            <a:ext cx="1572768" cy="932688"/>
          </a:xfrm>
          <a:prstGeom prst="roundRect">
            <a:avLst>
              <a:gd name="adj" fmla="val 9804"/>
            </a:avLst>
          </a:prstGeom>
          <a:solidFill>
            <a:srgbClr val="E3ECF3"/>
          </a:solidFill>
          <a:ln/>
        </p:spPr>
      </p:sp>
      <p:sp>
        <p:nvSpPr>
          <p:cNvPr id="21" name="Text 19"/>
          <p:cNvSpPr txBox="1"/>
          <p:nvPr/>
        </p:nvSpPr>
        <p:spPr>
          <a:xfrm>
            <a:off x="8078724" y="1591056"/>
            <a:ext cx="1572768" cy="310896"/>
          </a:xfrm>
          <a:prstGeom prst="rect">
            <a:avLst/>
          </a:prstGeom>
          <a:noFill/>
          <a:ln/>
        </p:spPr>
        <p:txBody>
          <a:bodyPr wrap="square" lIns="0" tIns="0" rIns="0" bIns="0" rtlCol="0" anchor="ctr"/>
          <a:lstStyle/>
          <a:p>
            <a:pPr marL="0" indent="0" algn="ctr">
              <a:buNone/>
            </a:pPr>
            <a:r>
              <a:rPr lang="en-US" sz="1400" b="1" dirty="0">
                <a:solidFill>
                  <a:srgbClr val="13202E"/>
                </a:solidFill>
                <a:latin typeface="Cambria" pitchFamily="34" charset="0"/>
                <a:ea typeface="Cambria" pitchFamily="34" charset="-122"/>
                <a:cs typeface="Cambria" pitchFamily="34" charset="-120"/>
              </a:rPr>
              <a:t>Queue</a:t>
            </a:r>
            <a:endParaRPr lang="en-US" sz="1400" dirty="0"/>
          </a:p>
        </p:txBody>
      </p:sp>
      <p:sp>
        <p:nvSpPr>
          <p:cNvPr id="22" name="Text 20"/>
          <p:cNvSpPr txBox="1"/>
          <p:nvPr/>
        </p:nvSpPr>
        <p:spPr>
          <a:xfrm>
            <a:off x="8078724" y="1901952"/>
            <a:ext cx="1572768" cy="274320"/>
          </a:xfrm>
          <a:prstGeom prst="rect">
            <a:avLst/>
          </a:prstGeom>
          <a:noFill/>
          <a:ln/>
        </p:spPr>
        <p:txBody>
          <a:bodyPr wrap="square" lIns="0" tIns="0" rIns="0" bIns="0" rtlCol="0" anchor="ctr"/>
          <a:lstStyle/>
          <a:p>
            <a:pPr marL="0" indent="0" algn="ctr">
              <a:buNone/>
            </a:pPr>
            <a:r>
              <a:rPr lang="en-US" sz="1050" dirty="0">
                <a:solidFill>
                  <a:srgbClr val="5B6C7B"/>
                </a:solidFill>
                <a:latin typeface="Calibri" pitchFamily="34" charset="0"/>
                <a:ea typeface="Calibri" pitchFamily="34" charset="-122"/>
                <a:cs typeface="Calibri" pitchFamily="34" charset="-120"/>
              </a:rPr>
              <a:t>Redis + RQ</a:t>
            </a:r>
            <a:endParaRPr lang="en-US" sz="1050" dirty="0"/>
          </a:p>
        </p:txBody>
      </p:sp>
      <p:sp>
        <p:nvSpPr>
          <p:cNvPr id="23" name="Shape 21"/>
          <p:cNvSpPr/>
          <p:nvPr/>
        </p:nvSpPr>
        <p:spPr>
          <a:xfrm>
            <a:off x="9688068" y="1828800"/>
            <a:ext cx="201168" cy="237744"/>
          </a:xfrm>
          <a:prstGeom prst="rightArrow">
            <a:avLst/>
          </a:prstGeom>
          <a:solidFill>
            <a:srgbClr val="1C7293"/>
          </a:solidFill>
          <a:ln/>
        </p:spPr>
      </p:sp>
      <p:sp>
        <p:nvSpPr>
          <p:cNvPr id="24" name="Shape 22"/>
          <p:cNvSpPr/>
          <p:nvPr/>
        </p:nvSpPr>
        <p:spPr>
          <a:xfrm>
            <a:off x="9925812" y="1481328"/>
            <a:ext cx="1572768" cy="932688"/>
          </a:xfrm>
          <a:prstGeom prst="roundRect">
            <a:avLst>
              <a:gd name="adj" fmla="val 9804"/>
            </a:avLst>
          </a:prstGeom>
          <a:solidFill>
            <a:srgbClr val="065A82"/>
          </a:solidFill>
          <a:ln/>
        </p:spPr>
      </p:sp>
      <p:sp>
        <p:nvSpPr>
          <p:cNvPr id="25" name="Text 23"/>
          <p:cNvSpPr txBox="1"/>
          <p:nvPr/>
        </p:nvSpPr>
        <p:spPr>
          <a:xfrm>
            <a:off x="9925812" y="1591056"/>
            <a:ext cx="1572768"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Worker</a:t>
            </a:r>
            <a:endParaRPr lang="en-US" sz="1400" dirty="0"/>
          </a:p>
        </p:txBody>
      </p:sp>
      <p:sp>
        <p:nvSpPr>
          <p:cNvPr id="26" name="Text 24"/>
          <p:cNvSpPr txBox="1"/>
          <p:nvPr/>
        </p:nvSpPr>
        <p:spPr>
          <a:xfrm>
            <a:off x="9925812" y="1901952"/>
            <a:ext cx="1572768" cy="274320"/>
          </a:xfrm>
          <a:prstGeom prst="rect">
            <a:avLst/>
          </a:prstGeom>
          <a:noFill/>
          <a:ln/>
        </p:spPr>
        <p:txBody>
          <a:bodyPr wrap="square" lIns="0" tIns="0" rIns="0" bIns="0" rtlCol="0" anchor="ctr"/>
          <a:lstStyle/>
          <a:p>
            <a:pPr marL="0" indent="0" algn="ctr">
              <a:buNone/>
            </a:pPr>
            <a:r>
              <a:rPr lang="en-US" sz="1050" dirty="0">
                <a:solidFill>
                  <a:srgbClr val="E3ECF3"/>
                </a:solidFill>
                <a:latin typeface="Calibri" pitchFamily="34" charset="0"/>
                <a:ea typeface="Calibri" pitchFamily="34" charset="-122"/>
                <a:cs typeface="Calibri" pitchFamily="34" charset="-120"/>
              </a:rPr>
              <a:t>runs the pipeline</a:t>
            </a:r>
            <a:endParaRPr lang="en-US" sz="1050" dirty="0"/>
          </a:p>
        </p:txBody>
      </p:sp>
      <p:sp>
        <p:nvSpPr>
          <p:cNvPr id="27" name="Text 25"/>
          <p:cNvSpPr txBox="1"/>
          <p:nvPr/>
        </p:nvSpPr>
        <p:spPr>
          <a:xfrm>
            <a:off x="502920" y="2578608"/>
            <a:ext cx="11183112" cy="274320"/>
          </a:xfrm>
          <a:prstGeom prst="rect">
            <a:avLst/>
          </a:prstGeom>
          <a:noFill/>
          <a:ln/>
        </p:spPr>
        <p:txBody>
          <a:bodyPr wrap="square" lIns="0" tIns="0" rIns="0" bIns="0" rtlCol="0" anchor="ctr"/>
          <a:lstStyle/>
          <a:p>
            <a:pPr marL="0" indent="0" algn="ctr">
              <a:buNone/>
            </a:pPr>
            <a:r>
              <a:rPr lang="en-US" sz="1150" i="1" dirty="0">
                <a:solidFill>
                  <a:srgbClr val="1C7293"/>
                </a:solidFill>
                <a:latin typeface="Calibri" pitchFamily="34" charset="0"/>
                <a:ea typeface="Calibri" pitchFamily="34" charset="-122"/>
                <a:cs typeface="Calibri" pitchFamily="34" charset="-120"/>
              </a:rPr>
              <a:t>←   results stream back to the browser over Server-Sent Events</a:t>
            </a:r>
            <a:endParaRPr lang="en-US" sz="1150" dirty="0"/>
          </a:p>
        </p:txBody>
      </p:sp>
      <p:sp>
        <p:nvSpPr>
          <p:cNvPr id="28" name="Shape 26"/>
          <p:cNvSpPr/>
          <p:nvPr/>
        </p:nvSpPr>
        <p:spPr>
          <a:xfrm>
            <a:off x="502920" y="3054096"/>
            <a:ext cx="3544824" cy="2139696"/>
          </a:xfrm>
          <a:prstGeom prst="roundRect">
            <a:avLst>
              <a:gd name="adj" fmla="val 3419"/>
            </a:avLst>
          </a:prstGeom>
          <a:solidFill>
            <a:srgbClr val="EFF4F8"/>
          </a:solidFill>
          <a:ln/>
        </p:spPr>
      </p:sp>
      <p:sp>
        <p:nvSpPr>
          <p:cNvPr id="29" name="Text 27"/>
          <p:cNvSpPr txBox="1"/>
          <p:nvPr/>
        </p:nvSpPr>
        <p:spPr>
          <a:xfrm>
            <a:off x="740664" y="3255264"/>
            <a:ext cx="3069336" cy="566928"/>
          </a:xfrm>
          <a:prstGeom prst="rect">
            <a:avLst/>
          </a:prstGeom>
          <a:noFill/>
          <a:ln/>
        </p:spPr>
        <p:txBody>
          <a:bodyPr wrap="square" lIns="0" tIns="0" rIns="0" bIns="0" rtlCol="0" anchor="ctr"/>
          <a:lstStyle/>
          <a:p>
            <a:pPr marL="0" indent="0">
              <a:lnSpc>
                <a:spcPts val="1900"/>
              </a:lnSpc>
              <a:buNone/>
            </a:pPr>
            <a:r>
              <a:rPr lang="en-US" sz="1500" b="1" dirty="0">
                <a:solidFill>
                  <a:srgbClr val="065A82"/>
                </a:solidFill>
                <a:latin typeface="Cambria" pitchFamily="34" charset="0"/>
                <a:ea typeface="Cambria" pitchFamily="34" charset="-122"/>
                <a:cs typeface="Cambria" pitchFamily="34" charset="-120"/>
              </a:rPr>
              <a:t>The request returns immediately.</a:t>
            </a:r>
            <a:endParaRPr lang="en-US" sz="1500" dirty="0"/>
          </a:p>
        </p:txBody>
      </p:sp>
      <p:sp>
        <p:nvSpPr>
          <p:cNvPr id="30" name="Text 28"/>
          <p:cNvSpPr txBox="1"/>
          <p:nvPr/>
        </p:nvSpPr>
        <p:spPr>
          <a:xfrm>
            <a:off x="740664" y="3858768"/>
            <a:ext cx="3069336" cy="1188720"/>
          </a:xfrm>
          <a:prstGeom prst="rect">
            <a:avLst/>
          </a:prstGeom>
          <a:noFill/>
          <a:ln/>
        </p:spPr>
        <p:txBody>
          <a:bodyPr wrap="square" lIns="0" tIns="0" rIns="0" bIns="0" rtlCol="0" anchor="ctr"/>
          <a:lstStyle/>
          <a:p>
            <a:pPr marL="0" indent="0">
              <a:lnSpc>
                <a:spcPts val="1550"/>
              </a:lnSpc>
              <a:buNone/>
            </a:pPr>
            <a:r>
              <a:rPr lang="en-US" sz="1150" dirty="0">
                <a:solidFill>
                  <a:srgbClr val="13202E"/>
                </a:solidFill>
                <a:latin typeface="Calibri" pitchFamily="34" charset="0"/>
                <a:ea typeface="Calibri" pitchFamily="34" charset="-122"/>
                <a:cs typeface="Calibri" pitchFamily="34" charset="-120"/>
              </a:rPr>
              <a:t>The HTTP call creates a job and hands back an id. Nothing is processed on the request thread, so a three-hour video never times out a connection.</a:t>
            </a:r>
            <a:endParaRPr lang="en-US" sz="1150" dirty="0"/>
          </a:p>
        </p:txBody>
      </p:sp>
      <p:sp>
        <p:nvSpPr>
          <p:cNvPr id="31" name="Shape 29"/>
          <p:cNvSpPr/>
          <p:nvPr/>
        </p:nvSpPr>
        <p:spPr>
          <a:xfrm>
            <a:off x="4322064" y="3054096"/>
            <a:ext cx="3544824" cy="2139696"/>
          </a:xfrm>
          <a:prstGeom prst="roundRect">
            <a:avLst>
              <a:gd name="adj" fmla="val 3419"/>
            </a:avLst>
          </a:prstGeom>
          <a:solidFill>
            <a:srgbClr val="EFF4F8"/>
          </a:solidFill>
          <a:ln/>
        </p:spPr>
      </p:sp>
      <p:sp>
        <p:nvSpPr>
          <p:cNvPr id="32" name="Text 30"/>
          <p:cNvSpPr txBox="1"/>
          <p:nvPr/>
        </p:nvSpPr>
        <p:spPr>
          <a:xfrm>
            <a:off x="4559808" y="3255264"/>
            <a:ext cx="3069336" cy="566928"/>
          </a:xfrm>
          <a:prstGeom prst="rect">
            <a:avLst/>
          </a:prstGeom>
          <a:noFill/>
          <a:ln/>
        </p:spPr>
        <p:txBody>
          <a:bodyPr wrap="square" lIns="0" tIns="0" rIns="0" bIns="0" rtlCol="0" anchor="ctr"/>
          <a:lstStyle/>
          <a:p>
            <a:pPr marL="0" indent="0">
              <a:lnSpc>
                <a:spcPts val="1900"/>
              </a:lnSpc>
              <a:buNone/>
            </a:pPr>
            <a:r>
              <a:rPr lang="en-US" sz="1500" b="1" dirty="0">
                <a:solidFill>
                  <a:srgbClr val="065A82"/>
                </a:solidFill>
                <a:latin typeface="Cambria" pitchFamily="34" charset="0"/>
                <a:ea typeface="Cambria" pitchFamily="34" charset="-122"/>
                <a:cs typeface="Cambria" pitchFamily="34" charset="-120"/>
              </a:rPr>
              <a:t>Progress is pushed, not guessed.</a:t>
            </a:r>
            <a:endParaRPr lang="en-US" sz="1500" dirty="0"/>
          </a:p>
        </p:txBody>
      </p:sp>
      <p:sp>
        <p:nvSpPr>
          <p:cNvPr id="33" name="Text 31"/>
          <p:cNvSpPr txBox="1"/>
          <p:nvPr/>
        </p:nvSpPr>
        <p:spPr>
          <a:xfrm>
            <a:off x="4559808" y="3858768"/>
            <a:ext cx="3069336" cy="1188720"/>
          </a:xfrm>
          <a:prstGeom prst="rect">
            <a:avLst/>
          </a:prstGeom>
          <a:noFill/>
          <a:ln/>
        </p:spPr>
        <p:txBody>
          <a:bodyPr wrap="square" lIns="0" tIns="0" rIns="0" bIns="0" rtlCol="0" anchor="ctr"/>
          <a:lstStyle/>
          <a:p>
            <a:pPr marL="0" indent="0">
              <a:lnSpc>
                <a:spcPts val="1550"/>
              </a:lnSpc>
              <a:buNone/>
            </a:pPr>
            <a:r>
              <a:rPr lang="en-US" sz="1150" dirty="0">
                <a:solidFill>
                  <a:srgbClr val="13202E"/>
                </a:solidFill>
                <a:latin typeface="Calibri" pitchFamily="34" charset="0"/>
                <a:ea typeface="Calibri" pitchFamily="34" charset="-122"/>
                <a:cs typeface="Calibri" pitchFamily="34" charset="-120"/>
              </a:rPr>
              <a:t>Each stage writes its own progress into the cache. The API merges those into one weighted number and streams it, with polling kept as a fallback.</a:t>
            </a:r>
            <a:endParaRPr lang="en-US" sz="1150" dirty="0"/>
          </a:p>
        </p:txBody>
      </p:sp>
      <p:sp>
        <p:nvSpPr>
          <p:cNvPr id="34" name="Shape 32"/>
          <p:cNvSpPr/>
          <p:nvPr/>
        </p:nvSpPr>
        <p:spPr>
          <a:xfrm>
            <a:off x="8141208" y="3054096"/>
            <a:ext cx="3544824" cy="2139696"/>
          </a:xfrm>
          <a:prstGeom prst="roundRect">
            <a:avLst>
              <a:gd name="adj" fmla="val 3419"/>
            </a:avLst>
          </a:prstGeom>
          <a:solidFill>
            <a:srgbClr val="EFF4F8"/>
          </a:solidFill>
          <a:ln/>
        </p:spPr>
      </p:sp>
      <p:sp>
        <p:nvSpPr>
          <p:cNvPr id="35" name="Text 33"/>
          <p:cNvSpPr txBox="1"/>
          <p:nvPr/>
        </p:nvSpPr>
        <p:spPr>
          <a:xfrm>
            <a:off x="8378952" y="3255264"/>
            <a:ext cx="3069336" cy="566928"/>
          </a:xfrm>
          <a:prstGeom prst="rect">
            <a:avLst/>
          </a:prstGeom>
          <a:noFill/>
          <a:ln/>
        </p:spPr>
        <p:txBody>
          <a:bodyPr wrap="square" lIns="0" tIns="0" rIns="0" bIns="0" rtlCol="0" anchor="ctr"/>
          <a:lstStyle/>
          <a:p>
            <a:pPr marL="0" indent="0">
              <a:lnSpc>
                <a:spcPts val="1900"/>
              </a:lnSpc>
              <a:buNone/>
            </a:pPr>
            <a:r>
              <a:rPr lang="en-US" sz="1500" b="1" dirty="0">
                <a:solidFill>
                  <a:srgbClr val="065A82"/>
                </a:solidFill>
                <a:latin typeface="Cambria" pitchFamily="34" charset="0"/>
                <a:ea typeface="Cambria" pitchFamily="34" charset="-122"/>
                <a:cs typeface="Cambria" pitchFamily="34" charset="-120"/>
              </a:rPr>
              <a:t>The scheduler chooses the machine.</a:t>
            </a:r>
            <a:endParaRPr lang="en-US" sz="1500" dirty="0"/>
          </a:p>
        </p:txBody>
      </p:sp>
      <p:sp>
        <p:nvSpPr>
          <p:cNvPr id="36" name="Text 34"/>
          <p:cNvSpPr txBox="1"/>
          <p:nvPr/>
        </p:nvSpPr>
        <p:spPr>
          <a:xfrm>
            <a:off x="8378952" y="3858768"/>
            <a:ext cx="3069336" cy="1188720"/>
          </a:xfrm>
          <a:prstGeom prst="rect">
            <a:avLst/>
          </a:prstGeom>
          <a:noFill/>
          <a:ln/>
        </p:spPr>
        <p:txBody>
          <a:bodyPr wrap="square" lIns="0" tIns="0" rIns="0" bIns="0" rtlCol="0" anchor="ctr"/>
          <a:lstStyle/>
          <a:p>
            <a:pPr marL="0" indent="0">
              <a:lnSpc>
                <a:spcPts val="1550"/>
              </a:lnSpc>
              <a:buNone/>
            </a:pPr>
            <a:r>
              <a:rPr lang="en-US" sz="1150" dirty="0">
                <a:solidFill>
                  <a:srgbClr val="13202E"/>
                </a:solidFill>
                <a:latin typeface="Calibri" pitchFamily="34" charset="0"/>
                <a:ea typeface="Calibri" pitchFamily="34" charset="-122"/>
                <a:cs typeface="Calibri" pitchFamily="34" charset="-120"/>
              </a:rPr>
              <a:t>Before queueing, it predicts for each worker class whether that class can still meet the deadline, and routes to the cheapest one that can — learning each class's real cost from completed jobs.</a:t>
            </a:r>
            <a:endParaRPr lang="en-US" sz="1150" dirty="0"/>
          </a:p>
        </p:txBody>
      </p:sp>
      <p:sp>
        <p:nvSpPr>
          <p:cNvPr id="37" name="Text 35"/>
          <p:cNvSpPr txBox="1"/>
          <p:nvPr/>
        </p:nvSpPr>
        <p:spPr>
          <a:xfrm>
            <a:off x="502920" y="5614416"/>
            <a:ext cx="2743200" cy="219456"/>
          </a:xfrm>
          <a:prstGeom prst="rect">
            <a:avLst/>
          </a:prstGeom>
          <a:noFill/>
          <a:ln/>
        </p:spPr>
        <p:txBody>
          <a:bodyPr wrap="square" lIns="0" tIns="0" rIns="0" bIns="0" rtlCol="0" anchor="ctr"/>
          <a:lstStyle/>
          <a:p>
            <a:pPr marL="0" indent="0">
              <a:buNone/>
            </a:pPr>
            <a:r>
              <a:rPr lang="en-US" sz="850" b="1" kern="0" spc="140" dirty="0">
                <a:solidFill>
                  <a:srgbClr val="5B6C7B"/>
                </a:solidFill>
                <a:latin typeface="Calibri" pitchFamily="34" charset="0"/>
                <a:ea typeface="Calibri" pitchFamily="34" charset="-122"/>
                <a:cs typeface="Calibri" pitchFamily="34" charset="-120"/>
              </a:rPr>
              <a:t>HANDLED BY</a:t>
            </a:r>
            <a:endParaRPr lang="en-US" sz="850" dirty="0"/>
          </a:p>
        </p:txBody>
      </p:sp>
      <p:sp>
        <p:nvSpPr>
          <p:cNvPr id="38" name="Shape 36"/>
          <p:cNvSpPr/>
          <p:nvPr/>
        </p:nvSpPr>
        <p:spPr>
          <a:xfrm>
            <a:off x="502920" y="5888736"/>
            <a:ext cx="1002182" cy="384048"/>
          </a:xfrm>
          <a:prstGeom prst="roundRect">
            <a:avLst>
              <a:gd name="adj" fmla="val 47619"/>
            </a:avLst>
          </a:prstGeom>
          <a:solidFill>
            <a:srgbClr val="E3ECF3"/>
          </a:solidFill>
          <a:ln/>
        </p:spPr>
      </p:sp>
      <p:sp>
        <p:nvSpPr>
          <p:cNvPr id="39" name="Text 37"/>
          <p:cNvSpPr txBox="1"/>
          <p:nvPr/>
        </p:nvSpPr>
        <p:spPr>
          <a:xfrm>
            <a:off x="502920" y="5888736"/>
            <a:ext cx="1002182"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Next.js 15</a:t>
            </a:r>
            <a:endParaRPr lang="en-US" sz="1050" dirty="0"/>
          </a:p>
        </p:txBody>
      </p:sp>
      <p:sp>
        <p:nvSpPr>
          <p:cNvPr id="40" name="Shape 38"/>
          <p:cNvSpPr/>
          <p:nvPr/>
        </p:nvSpPr>
        <p:spPr>
          <a:xfrm>
            <a:off x="1623974" y="5888736"/>
            <a:ext cx="794796" cy="384048"/>
          </a:xfrm>
          <a:prstGeom prst="roundRect">
            <a:avLst>
              <a:gd name="adj" fmla="val 47619"/>
            </a:avLst>
          </a:prstGeom>
          <a:solidFill>
            <a:srgbClr val="E3ECF3"/>
          </a:solidFill>
          <a:ln/>
        </p:spPr>
      </p:sp>
      <p:sp>
        <p:nvSpPr>
          <p:cNvPr id="41" name="Text 39"/>
          <p:cNvSpPr txBox="1"/>
          <p:nvPr/>
        </p:nvSpPr>
        <p:spPr>
          <a:xfrm>
            <a:off x="1623974" y="5888736"/>
            <a:ext cx="794796"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FastAPI</a:t>
            </a:r>
            <a:endParaRPr lang="en-US" sz="1050" dirty="0"/>
          </a:p>
        </p:txBody>
      </p:sp>
      <p:sp>
        <p:nvSpPr>
          <p:cNvPr id="42" name="Shape 40"/>
          <p:cNvSpPr/>
          <p:nvPr/>
        </p:nvSpPr>
        <p:spPr>
          <a:xfrm>
            <a:off x="2537643" y="5888736"/>
            <a:ext cx="1002182" cy="384048"/>
          </a:xfrm>
          <a:prstGeom prst="roundRect">
            <a:avLst>
              <a:gd name="adj" fmla="val 47619"/>
            </a:avLst>
          </a:prstGeom>
          <a:solidFill>
            <a:srgbClr val="E3ECF3"/>
          </a:solidFill>
          <a:ln/>
        </p:spPr>
      </p:sp>
      <p:sp>
        <p:nvSpPr>
          <p:cNvPr id="43" name="Text 41"/>
          <p:cNvSpPr txBox="1"/>
          <p:nvPr/>
        </p:nvSpPr>
        <p:spPr>
          <a:xfrm>
            <a:off x="2537643" y="5888736"/>
            <a:ext cx="1002182"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SQLAlchemy</a:t>
            </a:r>
            <a:endParaRPr lang="en-US" sz="1050" dirty="0"/>
          </a:p>
        </p:txBody>
      </p:sp>
      <p:sp>
        <p:nvSpPr>
          <p:cNvPr id="44" name="Shape 42"/>
          <p:cNvSpPr/>
          <p:nvPr/>
        </p:nvSpPr>
        <p:spPr>
          <a:xfrm>
            <a:off x="3658697" y="5888736"/>
            <a:ext cx="656539" cy="384048"/>
          </a:xfrm>
          <a:prstGeom prst="roundRect">
            <a:avLst>
              <a:gd name="adj" fmla="val 47619"/>
            </a:avLst>
          </a:prstGeom>
          <a:solidFill>
            <a:srgbClr val="E3ECF3"/>
          </a:solidFill>
          <a:ln/>
        </p:spPr>
      </p:sp>
      <p:sp>
        <p:nvSpPr>
          <p:cNvPr id="45" name="Text 43"/>
          <p:cNvSpPr txBox="1"/>
          <p:nvPr/>
        </p:nvSpPr>
        <p:spPr>
          <a:xfrm>
            <a:off x="3658697" y="5888736"/>
            <a:ext cx="656539"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Redis</a:t>
            </a:r>
            <a:endParaRPr lang="en-US" sz="1050" dirty="0"/>
          </a:p>
        </p:txBody>
      </p:sp>
      <p:sp>
        <p:nvSpPr>
          <p:cNvPr id="46" name="Shape 44"/>
          <p:cNvSpPr/>
          <p:nvPr/>
        </p:nvSpPr>
        <p:spPr>
          <a:xfrm>
            <a:off x="4434108" y="5888736"/>
            <a:ext cx="449153" cy="384048"/>
          </a:xfrm>
          <a:prstGeom prst="roundRect">
            <a:avLst>
              <a:gd name="adj" fmla="val 47619"/>
            </a:avLst>
          </a:prstGeom>
          <a:solidFill>
            <a:srgbClr val="E3ECF3"/>
          </a:solidFill>
          <a:ln/>
        </p:spPr>
      </p:sp>
      <p:sp>
        <p:nvSpPr>
          <p:cNvPr id="47" name="Text 45"/>
          <p:cNvSpPr txBox="1"/>
          <p:nvPr/>
        </p:nvSpPr>
        <p:spPr>
          <a:xfrm>
            <a:off x="4434108" y="5888736"/>
            <a:ext cx="449153"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RQ</a:t>
            </a:r>
            <a:endParaRPr lang="en-US" sz="1050" dirty="0"/>
          </a:p>
        </p:txBody>
      </p:sp>
      <p:sp>
        <p:nvSpPr>
          <p:cNvPr id="48" name="Shape 46"/>
          <p:cNvSpPr/>
          <p:nvPr/>
        </p:nvSpPr>
        <p:spPr>
          <a:xfrm>
            <a:off x="5002134" y="5888736"/>
            <a:ext cx="1555212" cy="384048"/>
          </a:xfrm>
          <a:prstGeom prst="roundRect">
            <a:avLst>
              <a:gd name="adj" fmla="val 47619"/>
            </a:avLst>
          </a:prstGeom>
          <a:solidFill>
            <a:srgbClr val="E3ECF3"/>
          </a:solidFill>
          <a:ln/>
        </p:spPr>
      </p:sp>
      <p:sp>
        <p:nvSpPr>
          <p:cNvPr id="49" name="Text 47"/>
          <p:cNvSpPr txBox="1"/>
          <p:nvPr/>
        </p:nvSpPr>
        <p:spPr>
          <a:xfrm>
            <a:off x="5002134" y="5888736"/>
            <a:ext cx="1555212" cy="384048"/>
          </a:xfrm>
          <a:prstGeom prst="rect">
            <a:avLst/>
          </a:prstGeom>
          <a:noFill/>
          <a:ln/>
        </p:spPr>
        <p:txBody>
          <a:bodyPr wrap="square" lIns="0" tIns="0" rIns="0" bIns="0" rtlCol="0" anchor="ctr"/>
          <a:lstStyle/>
          <a:p>
            <a:pPr marL="0" indent="0" algn="ctr">
              <a:buNone/>
            </a:pPr>
            <a:r>
              <a:rPr lang="en-US" sz="1050" dirty="0">
                <a:solidFill>
                  <a:srgbClr val="21295C"/>
                </a:solidFill>
                <a:latin typeface="Calibri" pitchFamily="34" charset="0"/>
                <a:ea typeface="Calibri" pitchFamily="34" charset="-122"/>
                <a:cs typeface="Calibri" pitchFamily="34" charset="-120"/>
              </a:rPr>
              <a:t>Server-Sent Events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786384" cy="786384"/>
          </a:xfrm>
          <a:prstGeom prst="ellipse">
            <a:avLst/>
          </a:prstGeom>
          <a:solidFill>
            <a:srgbClr val="065A82"/>
          </a:solidFill>
          <a:ln/>
        </p:spPr>
      </p:sp>
      <p:sp>
        <p:nvSpPr>
          <p:cNvPr id="3" name="Text 1"/>
          <p:cNvSpPr txBox="1"/>
          <p:nvPr/>
        </p:nvSpPr>
        <p:spPr>
          <a:xfrm>
            <a:off x="502920" y="384048"/>
            <a:ext cx="786384" cy="78638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P</a:t>
            </a:r>
            <a:endParaRPr lang="en-US" sz="1700" dirty="0"/>
          </a:p>
        </p:txBody>
      </p:sp>
      <p:sp>
        <p:nvSpPr>
          <p:cNvPr id="4" name="Text 2"/>
          <p:cNvSpPr txBox="1"/>
          <p:nvPr/>
        </p:nvSpPr>
        <p:spPr>
          <a:xfrm>
            <a:off x="1490472" y="365760"/>
            <a:ext cx="10195560" cy="47548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Before any work starts: the planner</a:t>
            </a:r>
            <a:endParaRPr lang="en-US" sz="3000" dirty="0"/>
          </a:p>
        </p:txBody>
      </p:sp>
      <p:sp>
        <p:nvSpPr>
          <p:cNvPr id="5" name="Text 3"/>
          <p:cNvSpPr txBox="1"/>
          <p:nvPr/>
        </p:nvSpPr>
        <p:spPr>
          <a:xfrm>
            <a:off x="1490472" y="850392"/>
            <a:ext cx="10195560" cy="310896"/>
          </a:xfrm>
          <a:prstGeom prst="rect">
            <a:avLst/>
          </a:prstGeom>
          <a:noFill/>
          <a:ln/>
        </p:spPr>
        <p:txBody>
          <a:bodyPr wrap="square" lIns="0" tIns="0" rIns="0" bIns="0" rtlCol="0" anchor="ctr"/>
          <a:lstStyle/>
          <a:p>
            <a:pPr marL="0" indent="0">
              <a:buNone/>
            </a:pPr>
            <a:r>
              <a:rPr lang="en-US" sz="1250" i="1" dirty="0">
                <a:solidFill>
                  <a:srgbClr val="9FB3C4"/>
                </a:solidFill>
                <a:latin typeface="Calibri" pitchFamily="34" charset="0"/>
                <a:ea typeface="Calibri" pitchFamily="34" charset="-122"/>
                <a:cs typeface="Calibri" pitchFamily="34" charset="-120"/>
              </a:rPr>
              <a:t>core/perf.py  —  the pipeline has a time budget, not a fixed model set</a:t>
            </a:r>
            <a:endParaRPr lang="en-US" sz="1250" dirty="0"/>
          </a:p>
        </p:txBody>
      </p:sp>
      <p:sp>
        <p:nvSpPr>
          <p:cNvPr id="6" name="Shape 4"/>
          <p:cNvSpPr/>
          <p:nvPr/>
        </p:nvSpPr>
        <p:spPr>
          <a:xfrm>
            <a:off x="502920" y="1499616"/>
            <a:ext cx="256032" cy="256032"/>
          </a:xfrm>
          <a:prstGeom prst="ellipse">
            <a:avLst/>
          </a:prstGeom>
          <a:solidFill>
            <a:srgbClr val="1C7293"/>
          </a:solidFill>
          <a:ln/>
        </p:spPr>
      </p:sp>
      <p:sp>
        <p:nvSpPr>
          <p:cNvPr id="7" name="Text 5"/>
          <p:cNvSpPr txBox="1"/>
          <p:nvPr/>
        </p:nvSpPr>
        <p:spPr>
          <a:xfrm>
            <a:off x="502920" y="1499616"/>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886968" y="1481328"/>
            <a:ext cx="6016752" cy="449326"/>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Probe the hardware. </a:t>
            </a:r>
            <a:r>
              <a:rPr lang="en-US" sz="1250" dirty="0">
                <a:solidFill>
                  <a:srgbClr val="9FB3C4"/>
                </a:solidFill>
                <a:latin typeface="Calibri" pitchFamily="34" charset="0"/>
                <a:ea typeface="Calibri" pitchFamily="34" charset="-122"/>
                <a:cs typeface="Calibri" pitchFamily="34" charset="-120"/>
              </a:rPr>
              <a:t>Core count, and a timed matrix benchmark for effective speed. A slow laptop and a fast one get different plans.</a:t>
            </a:r>
            <a:endParaRPr lang="en-US" sz="1250" dirty="0"/>
          </a:p>
        </p:txBody>
      </p:sp>
      <p:sp>
        <p:nvSpPr>
          <p:cNvPr id="9" name="Shape 7"/>
          <p:cNvSpPr/>
          <p:nvPr/>
        </p:nvSpPr>
        <p:spPr>
          <a:xfrm>
            <a:off x="502920" y="2150110"/>
            <a:ext cx="256032" cy="256032"/>
          </a:xfrm>
          <a:prstGeom prst="ellipse">
            <a:avLst/>
          </a:prstGeom>
          <a:solidFill>
            <a:srgbClr val="1C7293"/>
          </a:solidFill>
          <a:ln/>
        </p:spPr>
      </p:sp>
      <p:sp>
        <p:nvSpPr>
          <p:cNvPr id="10" name="Text 8"/>
          <p:cNvSpPr txBox="1"/>
          <p:nvPr/>
        </p:nvSpPr>
        <p:spPr>
          <a:xfrm>
            <a:off x="502920" y="2150110"/>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886968" y="2131822"/>
            <a:ext cx="6016752" cy="449326"/>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Load the calibration profile. </a:t>
            </a:r>
            <a:r>
              <a:rPr lang="en-US" sz="1250" dirty="0">
                <a:solidFill>
                  <a:srgbClr val="9FB3C4"/>
                </a:solidFill>
                <a:latin typeface="Calibri" pitchFamily="34" charset="0"/>
                <a:ea typeface="Calibri" pitchFamily="34" charset="-122"/>
                <a:cs typeface="Calibri" pitchFamily="34" charset="-120"/>
              </a:rPr>
              <a:t>Keyed by usable cores and worker class, so a two-core fleet run can never poison a sixteen-core laptop's numbers.</a:t>
            </a:r>
            <a:endParaRPr lang="en-US" sz="1250" dirty="0"/>
          </a:p>
        </p:txBody>
      </p:sp>
      <p:sp>
        <p:nvSpPr>
          <p:cNvPr id="12" name="Shape 10"/>
          <p:cNvSpPr/>
          <p:nvPr/>
        </p:nvSpPr>
        <p:spPr>
          <a:xfrm>
            <a:off x="502920" y="2800604"/>
            <a:ext cx="256032" cy="256032"/>
          </a:xfrm>
          <a:prstGeom prst="ellipse">
            <a:avLst/>
          </a:prstGeom>
          <a:solidFill>
            <a:srgbClr val="1C7293"/>
          </a:solidFill>
          <a:ln/>
        </p:spPr>
      </p:sp>
      <p:sp>
        <p:nvSpPr>
          <p:cNvPr id="13" name="Text 11"/>
          <p:cNvSpPr txBox="1"/>
          <p:nvPr/>
        </p:nvSpPr>
        <p:spPr>
          <a:xfrm>
            <a:off x="502920" y="2800604"/>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886968" y="2782316"/>
            <a:ext cx="6016752" cy="449326"/>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Divide the budget along the critical path. </a:t>
            </a:r>
            <a:r>
              <a:rPr lang="en-US" sz="1250" dirty="0">
                <a:solidFill>
                  <a:srgbClr val="9FB3C4"/>
                </a:solidFill>
                <a:latin typeface="Calibri" pitchFamily="34" charset="0"/>
                <a:ea typeface="Calibri" pitchFamily="34" charset="-122"/>
                <a:cs typeface="Calibri" pitchFamily="34" charset="-120"/>
              </a:rPr>
              <a:t>Transcribe and vision share one slice because they run together.</a:t>
            </a:r>
            <a:endParaRPr lang="en-US" sz="1250" dirty="0"/>
          </a:p>
        </p:txBody>
      </p:sp>
      <p:sp>
        <p:nvSpPr>
          <p:cNvPr id="15" name="Shape 13"/>
          <p:cNvSpPr/>
          <p:nvPr/>
        </p:nvSpPr>
        <p:spPr>
          <a:xfrm>
            <a:off x="502920" y="3451098"/>
            <a:ext cx="256032" cy="256032"/>
          </a:xfrm>
          <a:prstGeom prst="ellipse">
            <a:avLst/>
          </a:prstGeom>
          <a:solidFill>
            <a:srgbClr val="1C7293"/>
          </a:solidFill>
          <a:ln/>
        </p:spPr>
      </p:sp>
      <p:sp>
        <p:nvSpPr>
          <p:cNvPr id="16" name="Text 14"/>
          <p:cNvSpPr txBox="1"/>
          <p:nvPr/>
        </p:nvSpPr>
        <p:spPr>
          <a:xfrm>
            <a:off x="502920" y="3451098"/>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886968" y="3432810"/>
            <a:ext cx="6016752" cy="655701"/>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Walk each ladder down until it fits. </a:t>
            </a:r>
            <a:r>
              <a:rPr lang="en-US" sz="1250" dirty="0">
                <a:solidFill>
                  <a:srgbClr val="9FB3C4"/>
                </a:solidFill>
                <a:latin typeface="Calibri" pitchFamily="34" charset="0"/>
                <a:ea typeface="Calibri" pitchFamily="34" charset="-122"/>
                <a:cs typeface="Calibri" pitchFamily="34" charset="-120"/>
              </a:rPr>
              <a:t>Whisper model size and beam width, keyframe count, OCR frames, summarizer variant — the heaviest rung predicted to finish in time wins.</a:t>
            </a:r>
            <a:endParaRPr lang="en-US" sz="1250" dirty="0"/>
          </a:p>
        </p:txBody>
      </p:sp>
      <p:sp>
        <p:nvSpPr>
          <p:cNvPr id="18" name="Shape 16"/>
          <p:cNvSpPr/>
          <p:nvPr/>
        </p:nvSpPr>
        <p:spPr>
          <a:xfrm>
            <a:off x="502920" y="4307967"/>
            <a:ext cx="256032" cy="256032"/>
          </a:xfrm>
          <a:prstGeom prst="ellipse">
            <a:avLst/>
          </a:prstGeom>
          <a:solidFill>
            <a:srgbClr val="1C7293"/>
          </a:solidFill>
          <a:ln/>
        </p:spPr>
      </p:sp>
      <p:sp>
        <p:nvSpPr>
          <p:cNvPr id="19" name="Text 17"/>
          <p:cNvSpPr txBox="1"/>
          <p:nvPr/>
        </p:nvSpPr>
        <p:spPr>
          <a:xfrm>
            <a:off x="502920" y="4307967"/>
            <a:ext cx="256032"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0" name="Text 18"/>
          <p:cNvSpPr txBox="1"/>
          <p:nvPr/>
        </p:nvSpPr>
        <p:spPr>
          <a:xfrm>
            <a:off x="886968" y="4289679"/>
            <a:ext cx="6016752" cy="655701"/>
          </a:xfrm>
          <a:prstGeom prst="rect">
            <a:avLst/>
          </a:prstGeom>
          <a:noFill/>
          <a:ln/>
        </p:spPr>
        <p:txBody>
          <a:bodyPr wrap="square" lIns="0" tIns="0" rIns="0" bIns="0" rtlCol="0" anchor="t"/>
          <a:lstStyle/>
          <a:p>
            <a:pPr marL="0" indent="0">
              <a:lnSpc>
                <a:spcPts val="1600"/>
              </a:lnSpc>
              <a:buNone/>
            </a:pPr>
            <a:r>
              <a:rPr lang="en-US" sz="1250" b="1" dirty="0">
                <a:solidFill>
                  <a:srgbClr val="FFFFFF"/>
                </a:solidFill>
                <a:latin typeface="Calibri" pitchFamily="34" charset="0"/>
                <a:ea typeface="Calibri" pitchFamily="34" charset="-122"/>
                <a:cs typeface="Calibri" pitchFamily="34" charset="-120"/>
              </a:rPr>
              <a:t>Learn from the run. </a:t>
            </a:r>
            <a:r>
              <a:rPr lang="en-US" sz="1250" dirty="0">
                <a:solidFill>
                  <a:srgbClr val="9FB3C4"/>
                </a:solidFill>
                <a:latin typeface="Calibri" pitchFamily="34" charset="0"/>
                <a:ea typeface="Calibri" pitchFamily="34" charset="-122"/>
                <a:cs typeface="Calibri" pitchFamily="34" charset="-120"/>
              </a:rPr>
              <a:t>What each stage actually cost is folded back in with an asymmetric EMA: slow surprises are believed faster than fast ones, so the planner degrades before it overruns.</a:t>
            </a:r>
            <a:endParaRPr lang="en-US" sz="1250" dirty="0"/>
          </a:p>
        </p:txBody>
      </p:sp>
      <p:graphicFrame>
        <p:nvGraphicFramePr>
          <p:cNvPr id="21" name="Chart 0"/>
          <p:cNvGraphicFramePr/>
          <p:nvPr/>
        </p:nvGraphicFramePr>
        <p:xfrm>
          <a:off x="7178040" y="1554480"/>
          <a:ext cx="452628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7178040" y="4526280"/>
            <a:ext cx="4526280" cy="1188720"/>
          </a:xfrm>
          <a:prstGeom prst="roundRect">
            <a:avLst>
              <a:gd name="adj" fmla="val 6154"/>
            </a:avLst>
          </a:prstGeom>
          <a:solidFill>
            <a:srgbClr val="1B3550"/>
          </a:solidFill>
          <a:ln/>
        </p:spPr>
      </p:sp>
      <p:sp>
        <p:nvSpPr>
          <p:cNvPr id="23" name="Text 20"/>
          <p:cNvSpPr txBox="1"/>
          <p:nvPr/>
        </p:nvSpPr>
        <p:spPr>
          <a:xfrm>
            <a:off x="7406640" y="4700016"/>
            <a:ext cx="4069080" cy="868680"/>
          </a:xfrm>
          <a:prstGeom prst="rect">
            <a:avLst/>
          </a:prstGeom>
          <a:noFill/>
          <a:ln/>
        </p:spPr>
        <p:txBody>
          <a:bodyPr wrap="square" lIns="0" tIns="0" rIns="0" bIns="0" rtlCol="0" anchor="ctr"/>
          <a:lstStyle/>
          <a:p>
            <a:pPr marL="0" indent="0">
              <a:lnSpc>
                <a:spcPts val="1550"/>
              </a:lnSpc>
              <a:buNone/>
            </a:pPr>
            <a:r>
              <a:rPr lang="en-US" sz="1150" dirty="0">
                <a:solidFill>
                  <a:srgbClr val="9FB3C4"/>
                </a:solidFill>
                <a:latin typeface="Calibri" pitchFamily="34" charset="0"/>
                <a:ea typeface="Calibri" pitchFamily="34" charset="-122"/>
                <a:cs typeface="Calibri" pitchFamily="34" charset="-120"/>
              </a:rPr>
              <a:t>Target: 5 minutes by default. The remaining 2% is slack that absorbs model loading and process startup — the costs that do not scale with video length.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11480"/>
            <a:ext cx="11183112" cy="502920"/>
          </a:xfrm>
          <a:prstGeom prst="rect">
            <a:avLst/>
          </a:prstGeom>
          <a:noFill/>
          <a:ln/>
        </p:spPr>
        <p:txBody>
          <a:bodyPr wrap="square" lIns="0" tIns="0" rIns="0" bIns="0" rtlCol="0" anchor="ctr"/>
          <a:lstStyle/>
          <a:p>
            <a:pPr marL="0" indent="0">
              <a:buNone/>
            </a:pPr>
            <a:r>
              <a:rPr lang="en-US" sz="3400" b="1" dirty="0">
                <a:solidFill>
                  <a:srgbClr val="13202E"/>
                </a:solidFill>
                <a:latin typeface="Cambria" pitchFamily="34" charset="0"/>
                <a:ea typeface="Cambria" pitchFamily="34" charset="-122"/>
                <a:cs typeface="Cambria" pitchFamily="34" charset="-120"/>
              </a:rPr>
              <a:t>Who does what</a:t>
            </a:r>
            <a:endParaRPr lang="en-US" sz="3400" dirty="0"/>
          </a:p>
        </p:txBody>
      </p:sp>
      <p:sp>
        <p:nvSpPr>
          <p:cNvPr id="3" name="Text 1"/>
          <p:cNvSpPr txBox="1"/>
          <p:nvPr/>
        </p:nvSpPr>
        <p:spPr>
          <a:xfrm>
            <a:off x="502920" y="941832"/>
            <a:ext cx="11183112" cy="292608"/>
          </a:xfrm>
          <a:prstGeom prst="rect">
            <a:avLst/>
          </a:prstGeom>
          <a:noFill/>
          <a:ln/>
        </p:spPr>
        <p:txBody>
          <a:bodyPr wrap="square" lIns="0" tIns="0" rIns="0" bIns="0" rtlCol="0" anchor="ctr"/>
          <a:lstStyle/>
          <a:p>
            <a:pPr marL="0" indent="0">
              <a:buNone/>
            </a:pPr>
            <a:r>
              <a:rPr lang="en-US" sz="1300" dirty="0">
                <a:solidFill>
                  <a:srgbClr val="5B6C7B"/>
                </a:solidFill>
                <a:latin typeface="Calibri" pitchFamily="34" charset="0"/>
                <a:ea typeface="Calibri" pitchFamily="34" charset="-122"/>
                <a:cs typeface="Calibri" pitchFamily="34" charset="-120"/>
              </a:rPr>
              <a:t>Every model and library in the system, and the one job each of them has.</a:t>
            </a:r>
            <a:endParaRPr lang="en-US" sz="1300" dirty="0"/>
          </a:p>
        </p:txBody>
      </p:sp>
      <p:sp>
        <p:nvSpPr>
          <p:cNvPr id="4" name="Text 2"/>
          <p:cNvSpPr txBox="1"/>
          <p:nvPr/>
        </p:nvSpPr>
        <p:spPr>
          <a:xfrm>
            <a:off x="649224" y="1481328"/>
            <a:ext cx="822960" cy="274320"/>
          </a:xfrm>
          <a:prstGeom prst="rect">
            <a:avLst/>
          </a:prstGeom>
          <a:noFill/>
          <a:ln/>
        </p:spPr>
        <p:txBody>
          <a:bodyPr wrap="square" lIns="0" tIns="0" rIns="0" bIns="0" rtlCol="0" anchor="ctr"/>
          <a:lstStyle/>
          <a:p>
            <a:pPr marL="0" indent="0">
              <a:buNone/>
            </a:pPr>
            <a:r>
              <a:rPr lang="en-US" sz="850" b="1" kern="0" spc="140" dirty="0">
                <a:solidFill>
                  <a:srgbClr val="5B6C7B"/>
                </a:solidFill>
                <a:latin typeface="Calibri" pitchFamily="34" charset="0"/>
                <a:ea typeface="Calibri" pitchFamily="34" charset="-122"/>
                <a:cs typeface="Calibri" pitchFamily="34" charset="-120"/>
              </a:rPr>
              <a:t>STAGE</a:t>
            </a:r>
            <a:endParaRPr lang="en-US" sz="850" dirty="0"/>
          </a:p>
        </p:txBody>
      </p:sp>
      <p:sp>
        <p:nvSpPr>
          <p:cNvPr id="5" name="Text 3"/>
          <p:cNvSpPr txBox="1"/>
          <p:nvPr/>
        </p:nvSpPr>
        <p:spPr>
          <a:xfrm>
            <a:off x="1600200" y="1481328"/>
            <a:ext cx="4114800" cy="274320"/>
          </a:xfrm>
          <a:prstGeom prst="rect">
            <a:avLst/>
          </a:prstGeom>
          <a:noFill/>
          <a:ln/>
        </p:spPr>
        <p:txBody>
          <a:bodyPr wrap="square" lIns="0" tIns="0" rIns="0" bIns="0" rtlCol="0" anchor="ctr"/>
          <a:lstStyle/>
          <a:p>
            <a:pPr marL="0" indent="0">
              <a:buNone/>
            </a:pPr>
            <a:r>
              <a:rPr lang="en-US" sz="850" b="1" kern="0" spc="140" dirty="0">
                <a:solidFill>
                  <a:srgbClr val="5B6C7B"/>
                </a:solidFill>
                <a:latin typeface="Calibri" pitchFamily="34" charset="0"/>
                <a:ea typeface="Calibri" pitchFamily="34" charset="-122"/>
                <a:cs typeface="Calibri" pitchFamily="34" charset="-120"/>
              </a:rPr>
              <a:t>WHAT IT DOES</a:t>
            </a:r>
            <a:endParaRPr lang="en-US" sz="850" dirty="0"/>
          </a:p>
        </p:txBody>
      </p:sp>
      <p:sp>
        <p:nvSpPr>
          <p:cNvPr id="6" name="Text 4"/>
          <p:cNvSpPr txBox="1"/>
          <p:nvPr/>
        </p:nvSpPr>
        <p:spPr>
          <a:xfrm>
            <a:off x="6126480" y="1481328"/>
            <a:ext cx="5029200" cy="274320"/>
          </a:xfrm>
          <a:prstGeom prst="rect">
            <a:avLst/>
          </a:prstGeom>
          <a:noFill/>
          <a:ln/>
        </p:spPr>
        <p:txBody>
          <a:bodyPr wrap="square" lIns="0" tIns="0" rIns="0" bIns="0" rtlCol="0" anchor="ctr"/>
          <a:lstStyle/>
          <a:p>
            <a:pPr marL="0" indent="0">
              <a:buNone/>
            </a:pPr>
            <a:r>
              <a:rPr lang="en-US" sz="850" b="1" kern="0" spc="140" dirty="0">
                <a:solidFill>
                  <a:srgbClr val="5B6C7B"/>
                </a:solidFill>
                <a:latin typeface="Calibri" pitchFamily="34" charset="0"/>
                <a:ea typeface="Calibri" pitchFamily="34" charset="-122"/>
                <a:cs typeface="Calibri" pitchFamily="34" charset="-120"/>
              </a:rPr>
              <a:t>MODEL OR LIBRARY</a:t>
            </a:r>
            <a:endParaRPr lang="en-US" sz="850" dirty="0"/>
          </a:p>
        </p:txBody>
      </p:sp>
      <p:sp>
        <p:nvSpPr>
          <p:cNvPr id="7" name="Shape 5"/>
          <p:cNvSpPr/>
          <p:nvPr/>
        </p:nvSpPr>
        <p:spPr>
          <a:xfrm>
            <a:off x="502920" y="1810512"/>
            <a:ext cx="11183112" cy="342900"/>
          </a:xfrm>
          <a:prstGeom prst="rect">
            <a:avLst/>
          </a:prstGeom>
          <a:solidFill>
            <a:srgbClr val="EFF4F8"/>
          </a:solidFill>
          <a:ln/>
        </p:spPr>
      </p:sp>
      <p:sp>
        <p:nvSpPr>
          <p:cNvPr id="8" name="Text 6"/>
          <p:cNvSpPr txBox="1"/>
          <p:nvPr/>
        </p:nvSpPr>
        <p:spPr>
          <a:xfrm>
            <a:off x="649224" y="18105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M1</a:t>
            </a:r>
            <a:endParaRPr lang="en-US" sz="1150" dirty="0"/>
          </a:p>
        </p:txBody>
      </p:sp>
      <p:sp>
        <p:nvSpPr>
          <p:cNvPr id="9" name="Text 7"/>
          <p:cNvSpPr txBox="1"/>
          <p:nvPr/>
        </p:nvSpPr>
        <p:spPr>
          <a:xfrm>
            <a:off x="1600200" y="18105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Fetch the source, extract audio</a:t>
            </a:r>
            <a:endParaRPr lang="en-US" sz="1150" dirty="0"/>
          </a:p>
        </p:txBody>
      </p:sp>
      <p:sp>
        <p:nvSpPr>
          <p:cNvPr id="10" name="Text 8"/>
          <p:cNvSpPr txBox="1"/>
          <p:nvPr/>
        </p:nvSpPr>
        <p:spPr>
          <a:xfrm>
            <a:off x="6126480" y="18105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yt-dlp  ·  ffmpeg  ·  ffprobe</a:t>
            </a:r>
            <a:endParaRPr lang="en-US" sz="1150" dirty="0"/>
          </a:p>
        </p:txBody>
      </p:sp>
      <p:sp>
        <p:nvSpPr>
          <p:cNvPr id="11" name="Text 9"/>
          <p:cNvSpPr txBox="1"/>
          <p:nvPr/>
        </p:nvSpPr>
        <p:spPr>
          <a:xfrm>
            <a:off x="649224" y="21534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M2</a:t>
            </a:r>
            <a:endParaRPr lang="en-US" sz="1150" dirty="0"/>
          </a:p>
        </p:txBody>
      </p:sp>
      <p:sp>
        <p:nvSpPr>
          <p:cNvPr id="12" name="Text 10"/>
          <p:cNvSpPr txBox="1"/>
          <p:nvPr/>
        </p:nvSpPr>
        <p:spPr>
          <a:xfrm>
            <a:off x="1600200" y="21534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Speech to timestamped text</a:t>
            </a:r>
            <a:endParaRPr lang="en-US" sz="1150" dirty="0"/>
          </a:p>
        </p:txBody>
      </p:sp>
      <p:sp>
        <p:nvSpPr>
          <p:cNvPr id="13" name="Text 11"/>
          <p:cNvSpPr txBox="1"/>
          <p:nvPr/>
        </p:nvSpPr>
        <p:spPr>
          <a:xfrm>
            <a:off x="6126480" y="21534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faster-whisper  (CTranslate2, int8)</a:t>
            </a:r>
            <a:endParaRPr lang="en-US" sz="1150" dirty="0"/>
          </a:p>
        </p:txBody>
      </p:sp>
      <p:sp>
        <p:nvSpPr>
          <p:cNvPr id="14" name="Shape 12"/>
          <p:cNvSpPr/>
          <p:nvPr/>
        </p:nvSpPr>
        <p:spPr>
          <a:xfrm>
            <a:off x="502920" y="2496312"/>
            <a:ext cx="11183112" cy="342900"/>
          </a:xfrm>
          <a:prstGeom prst="rect">
            <a:avLst/>
          </a:prstGeom>
          <a:solidFill>
            <a:srgbClr val="EFF4F8"/>
          </a:solidFill>
          <a:ln/>
        </p:spPr>
      </p:sp>
      <p:sp>
        <p:nvSpPr>
          <p:cNvPr id="15" name="Text 13"/>
          <p:cNvSpPr txBox="1"/>
          <p:nvPr/>
        </p:nvSpPr>
        <p:spPr>
          <a:xfrm>
            <a:off x="649224" y="24963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M2</a:t>
            </a:r>
            <a:endParaRPr lang="en-US" sz="1150" dirty="0"/>
          </a:p>
        </p:txBody>
      </p:sp>
      <p:sp>
        <p:nvSpPr>
          <p:cNvPr id="16" name="Text 14"/>
          <p:cNvSpPr txBox="1"/>
          <p:nvPr/>
        </p:nvSpPr>
        <p:spPr>
          <a:xfrm>
            <a:off x="1600200" y="24963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Decide the spoken language</a:t>
            </a:r>
            <a:endParaRPr lang="en-US" sz="1150" dirty="0"/>
          </a:p>
        </p:txBody>
      </p:sp>
      <p:sp>
        <p:nvSpPr>
          <p:cNvPr id="17" name="Text 15"/>
          <p:cNvSpPr txBox="1"/>
          <p:nvPr/>
        </p:nvSpPr>
        <p:spPr>
          <a:xfrm>
            <a:off x="6126480" y="24963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Whisper tiny  —  multilingual checkpoint</a:t>
            </a:r>
            <a:endParaRPr lang="en-US" sz="1150" dirty="0"/>
          </a:p>
        </p:txBody>
      </p:sp>
      <p:sp>
        <p:nvSpPr>
          <p:cNvPr id="18" name="Text 16"/>
          <p:cNvSpPr txBox="1"/>
          <p:nvPr/>
        </p:nvSpPr>
        <p:spPr>
          <a:xfrm>
            <a:off x="649224" y="28392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M3</a:t>
            </a:r>
            <a:endParaRPr lang="en-US" sz="1150" dirty="0"/>
          </a:p>
        </p:txBody>
      </p:sp>
      <p:sp>
        <p:nvSpPr>
          <p:cNvPr id="19" name="Text 17"/>
          <p:cNvSpPr txBox="1"/>
          <p:nvPr/>
        </p:nvSpPr>
        <p:spPr>
          <a:xfrm>
            <a:off x="1600200" y="28392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Find scene boundaries</a:t>
            </a:r>
            <a:endParaRPr lang="en-US" sz="1150" dirty="0"/>
          </a:p>
        </p:txBody>
      </p:sp>
      <p:sp>
        <p:nvSpPr>
          <p:cNvPr id="20" name="Text 18"/>
          <p:cNvSpPr txBox="1"/>
          <p:nvPr/>
        </p:nvSpPr>
        <p:spPr>
          <a:xfrm>
            <a:off x="6126480" y="28392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PySceneDetect  ·  CLIP ViT-B/32</a:t>
            </a:r>
            <a:endParaRPr lang="en-US" sz="1150" dirty="0"/>
          </a:p>
        </p:txBody>
      </p:sp>
      <p:sp>
        <p:nvSpPr>
          <p:cNvPr id="21" name="Shape 19"/>
          <p:cNvSpPr/>
          <p:nvPr/>
        </p:nvSpPr>
        <p:spPr>
          <a:xfrm>
            <a:off x="502920" y="3182112"/>
            <a:ext cx="11183112" cy="342900"/>
          </a:xfrm>
          <a:prstGeom prst="rect">
            <a:avLst/>
          </a:prstGeom>
          <a:solidFill>
            <a:srgbClr val="EFF4F8"/>
          </a:solidFill>
          <a:ln/>
        </p:spPr>
      </p:sp>
      <p:sp>
        <p:nvSpPr>
          <p:cNvPr id="22" name="Text 20"/>
          <p:cNvSpPr txBox="1"/>
          <p:nvPr/>
        </p:nvSpPr>
        <p:spPr>
          <a:xfrm>
            <a:off x="649224" y="31821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M3</a:t>
            </a:r>
            <a:endParaRPr lang="en-US" sz="1150" dirty="0"/>
          </a:p>
        </p:txBody>
      </p:sp>
      <p:sp>
        <p:nvSpPr>
          <p:cNvPr id="23" name="Text 21"/>
          <p:cNvSpPr txBox="1"/>
          <p:nvPr/>
        </p:nvSpPr>
        <p:spPr>
          <a:xfrm>
            <a:off x="1600200" y="31821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Identify what is visible</a:t>
            </a:r>
            <a:endParaRPr lang="en-US" sz="1150" dirty="0"/>
          </a:p>
        </p:txBody>
      </p:sp>
      <p:sp>
        <p:nvSpPr>
          <p:cNvPr id="24" name="Text 22"/>
          <p:cNvSpPr txBox="1"/>
          <p:nvPr/>
        </p:nvSpPr>
        <p:spPr>
          <a:xfrm>
            <a:off x="6126480" y="31821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YOLOv8n  at 416 px</a:t>
            </a:r>
            <a:endParaRPr lang="en-US" sz="1150" dirty="0"/>
          </a:p>
        </p:txBody>
      </p:sp>
      <p:sp>
        <p:nvSpPr>
          <p:cNvPr id="25" name="Text 23"/>
          <p:cNvSpPr txBox="1"/>
          <p:nvPr/>
        </p:nvSpPr>
        <p:spPr>
          <a:xfrm>
            <a:off x="649224" y="35250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M3</a:t>
            </a:r>
            <a:endParaRPr lang="en-US" sz="1150" dirty="0"/>
          </a:p>
        </p:txBody>
      </p:sp>
      <p:sp>
        <p:nvSpPr>
          <p:cNvPr id="26" name="Text 24"/>
          <p:cNvSpPr txBox="1"/>
          <p:nvPr/>
        </p:nvSpPr>
        <p:spPr>
          <a:xfrm>
            <a:off x="1600200" y="35250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Read slides and whiteboards</a:t>
            </a:r>
            <a:endParaRPr lang="en-US" sz="1150" dirty="0"/>
          </a:p>
        </p:txBody>
      </p:sp>
      <p:sp>
        <p:nvSpPr>
          <p:cNvPr id="27" name="Text 25"/>
          <p:cNvSpPr txBox="1"/>
          <p:nvPr/>
        </p:nvSpPr>
        <p:spPr>
          <a:xfrm>
            <a:off x="6126480" y="35250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EasyOCR</a:t>
            </a:r>
            <a:endParaRPr lang="en-US" sz="1150" dirty="0"/>
          </a:p>
        </p:txBody>
      </p:sp>
      <p:sp>
        <p:nvSpPr>
          <p:cNvPr id="28" name="Shape 26"/>
          <p:cNvSpPr/>
          <p:nvPr/>
        </p:nvSpPr>
        <p:spPr>
          <a:xfrm>
            <a:off x="502920" y="3867912"/>
            <a:ext cx="11183112" cy="342900"/>
          </a:xfrm>
          <a:prstGeom prst="rect">
            <a:avLst/>
          </a:prstGeom>
          <a:solidFill>
            <a:srgbClr val="EFF4F8"/>
          </a:solidFill>
          <a:ln/>
        </p:spPr>
      </p:sp>
      <p:sp>
        <p:nvSpPr>
          <p:cNvPr id="29" name="Text 27"/>
          <p:cNvSpPr txBox="1"/>
          <p:nvPr/>
        </p:nvSpPr>
        <p:spPr>
          <a:xfrm>
            <a:off x="649224" y="38679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M5</a:t>
            </a:r>
            <a:endParaRPr lang="en-US" sz="1150" dirty="0"/>
          </a:p>
        </p:txBody>
      </p:sp>
      <p:sp>
        <p:nvSpPr>
          <p:cNvPr id="30" name="Text 28"/>
          <p:cNvSpPr txBox="1"/>
          <p:nvPr/>
        </p:nvSpPr>
        <p:spPr>
          <a:xfrm>
            <a:off x="1600200" y="38679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Write the explanation</a:t>
            </a:r>
            <a:endParaRPr lang="en-US" sz="1150" dirty="0"/>
          </a:p>
        </p:txBody>
      </p:sp>
      <p:sp>
        <p:nvSpPr>
          <p:cNvPr id="31" name="Text 29"/>
          <p:cNvSpPr txBox="1"/>
          <p:nvPr/>
        </p:nvSpPr>
        <p:spPr>
          <a:xfrm>
            <a:off x="6126480" y="38679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Gemini 2.5 Flash  —  multimodal, JSON-constrained</a:t>
            </a:r>
            <a:endParaRPr lang="en-US" sz="1150" dirty="0"/>
          </a:p>
        </p:txBody>
      </p:sp>
      <p:sp>
        <p:nvSpPr>
          <p:cNvPr id="32" name="Text 30"/>
          <p:cNvSpPr txBox="1"/>
          <p:nvPr/>
        </p:nvSpPr>
        <p:spPr>
          <a:xfrm>
            <a:off x="649224" y="42108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M5</a:t>
            </a:r>
            <a:endParaRPr lang="en-US" sz="1150" dirty="0"/>
          </a:p>
        </p:txBody>
      </p:sp>
      <p:sp>
        <p:nvSpPr>
          <p:cNvPr id="33" name="Text 31"/>
          <p:cNvSpPr txBox="1"/>
          <p:nvPr/>
        </p:nvSpPr>
        <p:spPr>
          <a:xfrm>
            <a:off x="1600200" y="42108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Offline fallback</a:t>
            </a:r>
            <a:endParaRPr lang="en-US" sz="1150" dirty="0"/>
          </a:p>
        </p:txBody>
      </p:sp>
      <p:sp>
        <p:nvSpPr>
          <p:cNvPr id="34" name="Text 32"/>
          <p:cNvSpPr txBox="1"/>
          <p:nvPr/>
        </p:nvSpPr>
        <p:spPr>
          <a:xfrm>
            <a:off x="6126480" y="42108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distilbart-cnn-12-6  ·  flan-t5-base</a:t>
            </a:r>
            <a:endParaRPr lang="en-US" sz="1150" dirty="0"/>
          </a:p>
        </p:txBody>
      </p:sp>
      <p:sp>
        <p:nvSpPr>
          <p:cNvPr id="35" name="Shape 33"/>
          <p:cNvSpPr/>
          <p:nvPr/>
        </p:nvSpPr>
        <p:spPr>
          <a:xfrm>
            <a:off x="502920" y="4553712"/>
            <a:ext cx="11183112" cy="342900"/>
          </a:xfrm>
          <a:prstGeom prst="rect">
            <a:avLst/>
          </a:prstGeom>
          <a:solidFill>
            <a:srgbClr val="EFF4F8"/>
          </a:solidFill>
          <a:ln/>
        </p:spPr>
      </p:sp>
      <p:sp>
        <p:nvSpPr>
          <p:cNvPr id="36" name="Text 34"/>
          <p:cNvSpPr txBox="1"/>
          <p:nvPr/>
        </p:nvSpPr>
        <p:spPr>
          <a:xfrm>
            <a:off x="649224" y="45537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M6</a:t>
            </a:r>
            <a:endParaRPr lang="en-US" sz="1150" dirty="0"/>
          </a:p>
        </p:txBody>
      </p:sp>
      <p:sp>
        <p:nvSpPr>
          <p:cNvPr id="37" name="Text 35"/>
          <p:cNvSpPr txBox="1"/>
          <p:nvPr/>
        </p:nvSpPr>
        <p:spPr>
          <a:xfrm>
            <a:off x="1600200" y="45537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Retrieve passages for a question</a:t>
            </a:r>
            <a:endParaRPr lang="en-US" sz="1150" dirty="0"/>
          </a:p>
        </p:txBody>
      </p:sp>
      <p:sp>
        <p:nvSpPr>
          <p:cNvPr id="38" name="Text 36"/>
          <p:cNvSpPr txBox="1"/>
          <p:nvPr/>
        </p:nvSpPr>
        <p:spPr>
          <a:xfrm>
            <a:off x="6126480" y="45537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MiniLM-L6-v2  ·  FAISS</a:t>
            </a:r>
            <a:endParaRPr lang="en-US" sz="1150" dirty="0"/>
          </a:p>
        </p:txBody>
      </p:sp>
      <p:sp>
        <p:nvSpPr>
          <p:cNvPr id="39" name="Text 37"/>
          <p:cNvSpPr txBox="1"/>
          <p:nvPr/>
        </p:nvSpPr>
        <p:spPr>
          <a:xfrm>
            <a:off x="649224" y="4896612"/>
            <a:ext cx="822960" cy="34290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M7</a:t>
            </a:r>
            <a:endParaRPr lang="en-US" sz="1150" dirty="0"/>
          </a:p>
        </p:txBody>
      </p:sp>
      <p:sp>
        <p:nvSpPr>
          <p:cNvPr id="40" name="Text 38"/>
          <p:cNvSpPr txBox="1"/>
          <p:nvPr/>
        </p:nvSpPr>
        <p:spPr>
          <a:xfrm>
            <a:off x="1600200" y="48966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Score scene importance</a:t>
            </a:r>
            <a:endParaRPr lang="en-US" sz="1150" dirty="0"/>
          </a:p>
        </p:txBody>
      </p:sp>
      <p:sp>
        <p:nvSpPr>
          <p:cNvPr id="41" name="Text 39"/>
          <p:cNvSpPr txBox="1"/>
          <p:nvPr/>
        </p:nvSpPr>
        <p:spPr>
          <a:xfrm>
            <a:off x="6126480" y="48966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CLIP + BiGRU  —  trained in this project</a:t>
            </a:r>
            <a:endParaRPr lang="en-US" sz="1150" dirty="0"/>
          </a:p>
        </p:txBody>
      </p:sp>
      <p:sp>
        <p:nvSpPr>
          <p:cNvPr id="42" name="Shape 40"/>
          <p:cNvSpPr/>
          <p:nvPr/>
        </p:nvSpPr>
        <p:spPr>
          <a:xfrm>
            <a:off x="502920" y="5239512"/>
            <a:ext cx="11183112" cy="342900"/>
          </a:xfrm>
          <a:prstGeom prst="rect">
            <a:avLst/>
          </a:prstGeom>
          <a:solidFill>
            <a:srgbClr val="EFF4F8"/>
          </a:solidFill>
          <a:ln/>
        </p:spPr>
      </p:sp>
      <p:sp>
        <p:nvSpPr>
          <p:cNvPr id="43" name="Text 41"/>
          <p:cNvSpPr txBox="1"/>
          <p:nvPr/>
        </p:nvSpPr>
        <p:spPr>
          <a:xfrm>
            <a:off x="649224" y="5239512"/>
            <a:ext cx="822960" cy="342900"/>
          </a:xfrm>
          <a:prstGeom prst="rect">
            <a:avLst/>
          </a:prstGeom>
          <a:noFill/>
          <a:ln/>
        </p:spPr>
        <p:txBody>
          <a:bodyPr wrap="square" lIns="0" tIns="0" rIns="0" bIns="0" rtlCol="0" anchor="ctr"/>
          <a:lstStyle/>
          <a:p>
            <a:pPr marL="0" indent="0">
              <a:buNone/>
            </a:pPr>
            <a:r>
              <a:rPr lang="en-US" sz="1150" b="1" dirty="0">
                <a:solidFill>
                  <a:srgbClr val="5B6C7B"/>
                </a:solidFill>
                <a:latin typeface="Calibri" pitchFamily="34" charset="0"/>
                <a:ea typeface="Calibri" pitchFamily="34" charset="-122"/>
                <a:cs typeface="Calibri" pitchFamily="34" charset="-120"/>
              </a:rPr>
              <a:t>—</a:t>
            </a:r>
            <a:endParaRPr lang="en-US" sz="1150" dirty="0"/>
          </a:p>
        </p:txBody>
      </p:sp>
      <p:sp>
        <p:nvSpPr>
          <p:cNvPr id="44" name="Text 42"/>
          <p:cNvSpPr txBox="1"/>
          <p:nvPr/>
        </p:nvSpPr>
        <p:spPr>
          <a:xfrm>
            <a:off x="1600200" y="52395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API, job records, queue, workers</a:t>
            </a:r>
            <a:endParaRPr lang="en-US" sz="1150" dirty="0"/>
          </a:p>
        </p:txBody>
      </p:sp>
      <p:sp>
        <p:nvSpPr>
          <p:cNvPr id="45" name="Text 43"/>
          <p:cNvSpPr txBox="1"/>
          <p:nvPr/>
        </p:nvSpPr>
        <p:spPr>
          <a:xfrm>
            <a:off x="6126480" y="52395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FastAPI  ·  SQLAlchemy  ·  Redis  ·  RQ</a:t>
            </a:r>
            <a:endParaRPr lang="en-US" sz="1150" dirty="0"/>
          </a:p>
        </p:txBody>
      </p:sp>
      <p:sp>
        <p:nvSpPr>
          <p:cNvPr id="46" name="Text 44"/>
          <p:cNvSpPr txBox="1"/>
          <p:nvPr/>
        </p:nvSpPr>
        <p:spPr>
          <a:xfrm>
            <a:off x="649224" y="5582412"/>
            <a:ext cx="822960" cy="342900"/>
          </a:xfrm>
          <a:prstGeom prst="rect">
            <a:avLst/>
          </a:prstGeom>
          <a:noFill/>
          <a:ln/>
        </p:spPr>
        <p:txBody>
          <a:bodyPr wrap="square" lIns="0" tIns="0" rIns="0" bIns="0" rtlCol="0" anchor="ctr"/>
          <a:lstStyle/>
          <a:p>
            <a:pPr marL="0" indent="0">
              <a:buNone/>
            </a:pPr>
            <a:r>
              <a:rPr lang="en-US" sz="1150" b="1" dirty="0">
                <a:solidFill>
                  <a:srgbClr val="5B6C7B"/>
                </a:solidFill>
                <a:latin typeface="Calibri" pitchFamily="34" charset="0"/>
                <a:ea typeface="Calibri" pitchFamily="34" charset="-122"/>
                <a:cs typeface="Calibri" pitchFamily="34" charset="-120"/>
              </a:rPr>
              <a:t>—</a:t>
            </a:r>
            <a:endParaRPr lang="en-US" sz="1150" dirty="0"/>
          </a:p>
        </p:txBody>
      </p:sp>
      <p:sp>
        <p:nvSpPr>
          <p:cNvPr id="47" name="Text 45"/>
          <p:cNvSpPr txBox="1"/>
          <p:nvPr/>
        </p:nvSpPr>
        <p:spPr>
          <a:xfrm>
            <a:off x="1600200" y="5582412"/>
            <a:ext cx="4389120" cy="342900"/>
          </a:xfrm>
          <a:prstGeom prst="rect">
            <a:avLst/>
          </a:prstGeom>
          <a:noFill/>
          <a:ln/>
        </p:spPr>
        <p:txBody>
          <a:bodyPr wrap="square" lIns="0" tIns="0" rIns="0" bIns="0" rtlCol="0" anchor="ctr"/>
          <a:lstStyle/>
          <a:p>
            <a:pPr marL="0" indent="0">
              <a:buNone/>
            </a:pPr>
            <a:r>
              <a:rPr lang="en-US" sz="1150" dirty="0">
                <a:solidFill>
                  <a:srgbClr val="13202E"/>
                </a:solidFill>
                <a:latin typeface="Calibri" pitchFamily="34" charset="0"/>
                <a:ea typeface="Calibri" pitchFamily="34" charset="-122"/>
                <a:cs typeface="Calibri" pitchFamily="34" charset="-120"/>
              </a:rPr>
              <a:t>Interface</a:t>
            </a:r>
            <a:endParaRPr lang="en-US" sz="1150" dirty="0"/>
          </a:p>
        </p:txBody>
      </p:sp>
      <p:sp>
        <p:nvSpPr>
          <p:cNvPr id="48" name="Text 46"/>
          <p:cNvSpPr txBox="1"/>
          <p:nvPr/>
        </p:nvSpPr>
        <p:spPr>
          <a:xfrm>
            <a:off x="6126480" y="5582412"/>
            <a:ext cx="5394960" cy="342900"/>
          </a:xfrm>
          <a:prstGeom prst="rect">
            <a:avLst/>
          </a:prstGeom>
          <a:noFill/>
          <a:ln/>
        </p:spPr>
        <p:txBody>
          <a:bodyPr wrap="square" lIns="0" tIns="0" rIns="0" bIns="0" rtlCol="0" anchor="ctr"/>
          <a:lstStyle/>
          <a:p>
            <a:pPr marL="0" indent="0">
              <a:buNone/>
            </a:pPr>
            <a:r>
              <a:rPr lang="en-US" sz="1150" dirty="0">
                <a:solidFill>
                  <a:srgbClr val="21295C"/>
                </a:solidFill>
                <a:latin typeface="Calibri" pitchFamily="34" charset="0"/>
                <a:ea typeface="Calibri" pitchFamily="34" charset="-122"/>
                <a:cs typeface="Calibri" pitchFamily="34" charset="-120"/>
              </a:rPr>
              <a:t>Next.js 15  ·  Tailwind  ·  Server-Sent Events</a:t>
            </a:r>
            <a:endParaRPr lang="en-US" sz="1150" dirty="0"/>
          </a:p>
        </p:txBody>
      </p:sp>
      <p:sp>
        <p:nvSpPr>
          <p:cNvPr id="49" name="Text 47"/>
          <p:cNvSpPr txBox="1"/>
          <p:nvPr/>
        </p:nvSpPr>
        <p:spPr>
          <a:xfrm>
            <a:off x="502920" y="5870448"/>
            <a:ext cx="11183112" cy="457200"/>
          </a:xfrm>
          <a:prstGeom prst="rect">
            <a:avLst/>
          </a:prstGeom>
          <a:noFill/>
          <a:ln/>
        </p:spPr>
        <p:txBody>
          <a:bodyPr wrap="square" lIns="0" tIns="0" rIns="0" bIns="0" rtlCol="0" anchor="ctr"/>
          <a:lstStyle/>
          <a:p>
            <a:pPr marL="0" indent="0">
              <a:lnSpc>
                <a:spcPts val="1600"/>
              </a:lnSpc>
              <a:buNone/>
            </a:pPr>
            <a:r>
              <a:rPr lang="en-US" sz="1200" i="1" dirty="0">
                <a:solidFill>
                  <a:srgbClr val="5B6C7B"/>
                </a:solidFill>
                <a:latin typeface="Calibri" pitchFamily="34" charset="0"/>
                <a:ea typeface="Calibri" pitchFamily="34" charset="-122"/>
                <a:cs typeface="Calibri" pitchFamily="34" charset="-120"/>
              </a:rPr>
              <a:t>Everything except one call runs locally on CPU — no GPU anywhere in the system. The only remote dependency is the understanding model, and the pipeline still completes without 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1140</Words>
  <Application>Microsoft Office PowerPoint</Application>
  <PresentationFormat>Widescreen</PresentationFormat>
  <Paragraphs>139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JAIVARDHAN SINGH</cp:lastModifiedBy>
  <cp:revision>1</cp:revision>
  <dcterms:created xsi:type="dcterms:W3CDTF">2026-09-08T20:39:15Z</dcterms:created>
  <dcterms:modified xsi:type="dcterms:W3CDTF">2026-09-09T04:44:36Z</dcterms:modified>
</cp:coreProperties>
</file>
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828800"/>
            <a:ext cx="8924544" cy="1325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/>
              <a:t>B.Tech. — BCSE497J Project-I
</a:t>
            </a:r>
            <a:r>
              <a:rPr sz="2100" b="1"/>
              <a:t>Deadline-Aware Video Summarisation with an SLA-Constrained, Cost-Aware Scheduler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46120"/>
            <a:ext cx="7071360" cy="283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&lt;&lt; Name &gt;&gt;		(&lt;&lt; Reg. No. &gt;&gt;)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&lt;&lt; Name &gt;&gt;		(&lt;&lt; Reg. No. &gt;&gt;)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&lt;&lt; Name &gt;&gt;		(&lt;&lt; Reg. No. &gt;&gt;)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Faculty guide: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&lt;&lt; Guide Name &gt;&gt;, &lt;&lt; Designation &gt;&gt;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School of Computer Science and Engineering, VIT Vellore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/>
            <a:r>
              <a:t>Approval for the aim, objectives, architecture, modules and outcome was sought from the project guide by e-mail before 21-10-2026.</a:t>
            </a:r>
          </a:p>
          <a:p>
            <a:pPr/>
            <a:r>
              <a:t>All points raised by the guide have been addressed and updated by the project team.</a:t>
            </a:r>
          </a:p>
          <a:p>
            <a:pPr/>
            <a:r>
              <a:t>&lt;&lt; Paste the approval e-mail screenshot below. &gt;&gt;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To build a video-understanding system that returns a usable explanation of a lecture or tutorial within a stated wall-clock deadline, by predicting how long each stage will take on each available machine and choosing the cheapest configuration that still meets that deadline.</a:t>
            </a:r>
          </a:p>
          <a:p>
            <a:pPr/>
            <a:r>
              <a:t>The aim is therefore not only accuracy of the summary, but delivery of it inside a budget the user is told in advance.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Existing summarisation pipelines run a fixed set of models and finish whenever they finish; on a long lecture that can be hours, with no estimate offered beforehand.</a:t>
            </a:r>
          </a:p>
          <a:p>
            <a:pPr/>
            <a:r>
              <a:t>This project adds a scheduler that keeps, for every hardware class, an execution-cost model of the form fixed + rate × input-minutes, fitted online from completed jobs, and uses it to route each job to the cheapest class predicted to meet the deadline.</a:t>
            </a:r>
          </a:p>
          <a:p>
            <a:pPr/>
            <a:r>
              <a:t>The pipeline itself has seven stages — ingest, transcribe, vision, fuse, understand, index and highlight — and the planner may lower model fidelity rather than miss the budget.</a:t>
            </a:r>
          </a:p>
          <a:p>
            <a:pPr/>
            <a:r>
              <a:t>On 31 recorded runs the scheduler met its budget on 64.5% of jobs against 6.5% for a fixed, highest-fidelity configuration. A 11.4-minute lecture completes in 159 s, about 4.3× faster than real time.</a:t>
            </a:r>
          </a:p>
          <a:p>
            <a:pPr/>
            <a:r>
              <a:t>The summariser scores F1 0.262 on TVSum against a human agreement of 0.260 and a random baseline of 0.166, under 5-fold cross-validation.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Each source below was read in full; the right-hand column is the limitation this project responds to.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4297680"/>
              </a:tblGrid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/>
                        <a:t>Limitation addressed here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US 2014/0229221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Estimates job duration from prior runs; picks the lowest-cost pool meeting a need-by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Cloud batch compute; no model-fidelity choice, no explicit fixed-overhead term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Romero et al., INFaaS (USENIX ATC '21)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Selects model variant and hardware jointly under latency/accuracy SLOs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Per-query inference serving; cost does not scale with input length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Deneke et al.; FastTTPS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Predicts transcoding time by linear regression on video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Prediction only — not used to pick between machines under a deadline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Otani et al., CVPR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Shows F1 on TVSum/SumMe is inflated; proposes rank-correlation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Adopted here: τ and ρ are reported beside F1, with human baselines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Potapov et al., KTS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Kernel temporal segmentation into shots for summarisation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/>
                        <a:t>Segmentation only; no scheduling or delivery guarantee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Runtime prediction and deadline-aware scheduling exist separately; the media-summarisation literature does not combine them.</a:t>
            </a:r>
          </a:p>
          <a:p>
            <a:pPr/>
            <a:r>
              <a:t>Transcoding-time work predicts duration but stops there — the estimate is not used to choose between machines of different cost.</a:t>
            </a:r>
          </a:p>
          <a:p>
            <a:pPr/>
            <a:r>
              <a:t>Deadline-aware cloud schedulers choose a machine, but model duration as proportional to input size, with no fixed-overhead term, and never trade model accuracy to keep a deadline.</a:t>
            </a:r>
          </a:p>
          <a:p>
            <a:pPr/>
            <a:r>
              <a:t>Summarisation benchmarks report F1 alone, which Otani et al. showed can exceed human agreement while ranking segments no better than chance.</a:t>
            </a:r>
          </a:p>
          <a:p>
            <a:pPr/>
            <a:r>
              <a:t>Gap addressed: one system that predicts per-stage cost per hardware class, routes on it, degrades fidelity rather than overrun, and is evaluated against human agreement rather than F1 alone.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68880"/>
          </a:xfrm>
        </p:spPr>
        <p:txBody>
          <a:bodyPr>
            <a:normAutofit/>
          </a:bodyPr>
          <a:lstStyle/>
          <a:p>
            <a:pPr/>
            <a:r>
              <a:rPr sz="1400"/>
              <a:t>Build the seven-stage pipeline end to end, from a URL or an upload to a chaptered explanation, transcript, quiz and practice set.</a:t>
            </a:r>
          </a:p>
          <a:p>
            <a:pPr/>
            <a:r>
              <a:rPr sz="1400"/>
              <a:t>Maintain a per-hardware-class execution-cost model, fitted online from completed jobs at constant work per job.</a:t>
            </a:r>
          </a:p>
          <a:p>
            <a:pPr/>
            <a:r>
              <a:rPr sz="1400"/>
              <a:t>Route each job to the cheapest class predicted to meet its deadline, and declare infeasibility before the job starts rather than after.</a:t>
            </a:r>
          </a:p>
          <a:p>
            <a:pPr/>
            <a:r>
              <a:rPr sz="1400"/>
              <a:t>Evaluate the summariser against human agreement on TVSum and SumMe, not F1 alone.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1520"/>
          </a:xfrm>
        </p:spPr>
        <p:txBody>
          <a:bodyPr>
            <a:normAutofit/>
          </a:bodyPr>
          <a:lstStyle/>
          <a:p>
            <a:pPr/>
            <a:r>
              <a:rPr sz="1400"/>
              <a:t>Seven stages: M1 ingest → M2 transcribe and M3 vision (concurrent) → M4 fuse → M5′ understand → M6 index → M7 highlight.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ure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83" y="2468880"/>
            <a:ext cx="6748032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Accept a video as a link or an upload, and show a time estimate before processing starts.</a:t>
            </a:r>
          </a:p>
          <a:p>
            <a:pPr/>
            <a:r>
              <a:t>Produce a chaptered explanation with timestamps, a scene grid, a transcript, a quiz, flashcards, a mind map and an audio overview.</a:t>
            </a:r>
          </a:p>
          <a:p>
            <a:pPr/>
            <a:r>
              <a:t>Extract every problem solved in the video and restate it in any dialect of the same family — MySQL, PostgreSQL, Oracle, SQL Server, SQLite; Python, Java, C++, JavaScript, C#, Go.</a:t>
            </a:r>
          </a:p>
          <a:p>
            <a:pPr/>
            <a:r>
              <a:t>Answer questions about the video with citations back to the moment.</a:t>
            </a:r>
          </a:p>
          <a:p>
            <a:pPr/>
            <a:r>
              <a:t>Authenticate by e-mail OTP, phone OTP or Google, and enforce a per-tier allowance — four hours of video on the free tier, fifteen on premium.</a:t>
            </a:r>
          </a:p>
          <a:p>
            <a:pPr/>
            <a:r>
              <a:t>Resume a part-completed run from cache instead of recomputing it.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400"/>
              <a:t>M1 Ingest — fetch or accept upload, probe duration, extract audio.</a:t>
            </a:r>
          </a:p>
          <a:p>
            <a:pPr/>
            <a:r>
              <a:rPr sz="1400"/>
              <a:t>M2 Transcribe — Whisper, language auto-detected, long audio chunked.</a:t>
            </a:r>
          </a:p>
          <a:p>
            <a:pPr/>
            <a:r>
              <a:rPr sz="1400"/>
              <a:t>M3 Vision — scene detection, keyframes, object and on-screen text; runs concurrently with M2.</a:t>
            </a:r>
          </a:p>
          <a:p>
            <a:pPr/>
            <a:r>
              <a:rPr sz="1400"/>
              <a:t>M4 Fuse — align every sentence to the scene it was spoken over.</a:t>
            </a:r>
          </a:p>
          <a:p>
            <a:pPr/>
            <a:r>
              <a:rPr sz="1400"/>
              <a:t>M5′ Understand — a language model reads the fused document in windows and writes the explanation, quiz and practice set.</a:t>
            </a:r>
          </a:p>
          <a:p>
            <a:pPr/>
            <a:r>
              <a:rPr sz="1400"/>
              <a:t>M6 Index — FAISS index over passages, for cited question answering.</a:t>
            </a:r>
          </a:p>
          <a:p>
            <a:pPr/>
            <a:r>
              <a:rPr sz="1400"/>
              <a:t>M7 Highlight — a trained importance model scores shots and cuts a reel.</a:t>
            </a:r>
          </a:p>
          <a:p>
            <a:pPr/>
            <a:r>
              <a:rPr sz="1400"/>
              <a:t>Scheduler — predicts each stage's cost per hardware class and routes the job; calibrates from every completed run.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300"/>
              <a:t>Scheduling, over 31 recorded SLA observations:</a:t>
            </a:r>
          </a:p>
          <a:p>
            <a:pPr lvl="1"/>
            <a:r>
              <a:rPr sz="1300"/>
              <a:t>Scheduler met the budget on 64.5% of jobs; a fixed highest-fidelity configuration met it on 6.5%.</a:t>
            </a:r>
          </a:p>
          <a:p>
            <a:pPr lvl="1"/>
            <a:r>
              <a:rPr sz="1300"/>
              <a:t>Counterfactuals computed from the measured per-minute costs: always 16-core 71.0%, random choice 61.3%, always 2-core 51.6%. These assume the cost model is exact; the 64.5% is measured and includes real provider stalls.</a:t>
            </a:r>
          </a:p>
          <a:p>
            <a:pPr/>
            <a:r>
              <a:rPr sz="1300"/>
              <a:t>Throughput: an 11.4-minute lecture completes in 159.2 s — about 4.3× faster than real time (ingest 16.7 s, analyse 69.8 s, summarise 43.5 s, index 2.9 s).</a:t>
            </a:r>
          </a:p>
          <a:p>
            <a:pPr/>
            <a:r>
              <a:rPr sz="1300"/>
              <a:t>Summarisation quality, 5-fold cross-validation over 75 videos:</a:t>
            </a:r>
          </a:p>
          <a:p>
            <a:pPr lvl="1"/>
            <a:r>
              <a:rPr sz="1300"/>
              <a:t>TVSum — F1 0.262 vs human 0.260, random 0.166; Kendall τ 0.214.</a:t>
            </a:r>
          </a:p>
          <a:p>
            <a:pPr lvl="1"/>
            <a:r>
              <a:rPr sz="1300"/>
              <a:t>SumMe — F1 0.445 vs human 0.612, random 0.368; Kendall τ 0.053, so ranking on SumMe is close to chance and is reported as such.</a:t>
            </a:r>
          </a:p>
          <a:p>
            <a:pPr/>
            <a:r>
              <a:rPr sz="1300"/>
              <a:t>Correctness: 190 automated tests pass.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sz="1400"/>
              <a:t>A deadline is treated as a first-class input: the system predicts, routes, and says before starting whether the budget is reachable.</a:t>
            </a:r>
          </a:p>
          <a:p>
            <a:pPr/>
            <a:r>
              <a:rPr sz="1400"/>
              <a:t>The learned affine cost model is what makes that possible, and it improves with every completed job at constant cost per update.</a:t>
            </a:r>
          </a:p>
          <a:p>
            <a:pPr/>
            <a:r>
              <a:rPr sz="1400"/>
              <a:t>Honest limits: the flat 300 s budget is unreachable for multi-hour videos, so most misses are structural; and the always-16-core counterfactual is not beaten on attainment — the scheduler's claim is comparable attainment at lower cost, which a direct A/B has not yet measured.</a:t>
            </a:r>
          </a:p>
          <a:p>
            <a:pPr/>
            <a:r>
              <a:rPr sz="1400"/>
              <a:t>Future work: a measured A/B against a fixed 16-core assignment; a length-proportional budget; a second cost term for output bitrate; and GPU worker classes, which the routing already supports.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/>
            <a:r>
              <a:rPr sz="1400"/>
              <a:t>Patent — invention disclosure prepared, not yet filed.</a:t>
            </a:r>
          </a:p>
          <a:p>
            <a:pPr lvl="1"/>
            <a:r>
              <a:rPr sz="1400"/>
              <a:t>Form IDF-B completed for the SLA-constrained scheduler, with three figures drawn from the running system.</a:t>
            </a:r>
          </a:p>
          <a:p>
            <a:pPr lvl="1"/>
            <a:r>
              <a:rPr sz="1400"/>
              <a:t>A design-registration disclosure completed for the interface, with eight representations captured from the application.</a:t>
            </a:r>
          </a:p>
          <a:p>
            <a:pPr lvl="1"/>
            <a:r>
              <a:rPr sz="1400"/>
              <a:t>A prior-art search was carried out before filing. It found that the broad claim appears anticipated by US 2014/0229221 A1, so a narrowed combination claim is being prepared with the VIT IPR Cell.</a:t>
            </a:r>
          </a:p>
          <a:p>
            <a:pPr/>
            <a:r>
              <a:rPr sz="1400"/>
              <a:t>Product — the system is deployed and reachable, with authentication, per-tier allowances and payment integration working against live APIs.</a:t>
            </a:r>
          </a:p>
          <a:p>
            <a:pPr/>
            <a:r>
              <a:rPr sz="1400"/>
              <a:t>Sustainable Development Goal 4, Quality Education: the system makes long-form lecture content searchable and answerable.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[1] Amazon Technologies, “Cost-aware scheduling of compute jobs against a need-by time,” US Patent Application US 2014/0229221 A1, Aug. 2014.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[2] F. Romero, Q. Li, N. J. Yadwadkar and C. Kozyrakis, “INFaaS: Automated model-less inference serving,” in Proc. USENIX ATC, 2021, pp. 397–411.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[3] T. Deneke, H. Haile, S. Lafond and J. Lilius, “Video transcoding time prediction for proactive load balancing,” in Proc. IEEE ICME, 2014.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[4] M. Otani, Y. Nakashima, E. Rahtu and J. Heikkilä, “Rethinking the evaluation of video summaries,” in Proc. IEEE/CVF CVPR, 2019, pp. 7596–7604.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[5] D. Potapov, M. Douze, Z. Harchaoui and C. Schmid, “Category-specific video summarization,” in Proc. ECCV, 2014, pp. 540–555.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[6] A. Radford et al., “Robust speech recognition via large-scale weak supervision,” in Proc. ICML, 2023, pp. 28492–28518.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/>
              <a:t>[7] J. Johnson, M. Douze and H. Jégou, “Billion-scale similarity search with GPUs,” IEEE Trans. Big Data, vol. 7, no. 3, pp. 535–547, 2021.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